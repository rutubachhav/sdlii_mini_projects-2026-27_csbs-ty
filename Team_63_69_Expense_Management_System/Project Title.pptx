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DejaVu Sans Light" panose="020B0604020202020204" charset="0"/>
      <p:regular r:id="rId14"/>
    </p:embeddedFont>
    <p:embeddedFont>
      <p:font typeface="Noto Sans" panose="020B0502040504020204" pitchFamily="34" charset="0"/>
      <p:regular r:id="rId15"/>
    </p:embeddedFont>
    <p:embeddedFont>
      <p:font typeface="Noto Sans Bold" panose="020B0604020202020204" charset="0"/>
      <p:regular r:id="rId16"/>
    </p:embeddedFont>
    <p:embeddedFont>
      <p:font typeface="Times New Roman Bold" panose="02020803070505020304" pitchFamily="18" charset="0"/>
      <p:bold r:id="rId17"/>
    </p:embeddedFont>
    <p:embeddedFont>
      <p:font typeface="TT Phobo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CF5B70-876F-4617-AE61-EE524D81D4DD}" v="1" dt="2026-10-22T09:19:06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jha" userId="8be11afde703b81e" providerId="LiveId" clId="{AF3BF3DE-7253-4819-A7C9-F4027D6A5FEE}"/>
    <pc:docChg chg="addSld modSld">
      <pc:chgData name="abhishek jha" userId="8be11afde703b81e" providerId="LiveId" clId="{AF3BF3DE-7253-4819-A7C9-F4027D6A5FEE}" dt="2026-10-23T04:24:48.137" v="31" actId="1076"/>
      <pc:docMkLst>
        <pc:docMk/>
      </pc:docMkLst>
      <pc:sldChg chg="modSp mod">
        <pc:chgData name="abhishek jha" userId="8be11afde703b81e" providerId="LiveId" clId="{AF3BF3DE-7253-4819-A7C9-F4027D6A5FEE}" dt="2026-10-22T09:18:48.977" v="2" actId="113"/>
        <pc:sldMkLst>
          <pc:docMk/>
          <pc:sldMk cId="0" sldId="256"/>
        </pc:sldMkLst>
        <pc:spChg chg="mod">
          <ac:chgData name="abhishek jha" userId="8be11afde703b81e" providerId="LiveId" clId="{AF3BF3DE-7253-4819-A7C9-F4027D6A5FEE}" dt="2026-10-22T09:18:48.977" v="2" actId="113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abhishek jha" userId="8be11afde703b81e" providerId="LiveId" clId="{AF3BF3DE-7253-4819-A7C9-F4027D6A5FEE}" dt="2026-10-23T04:24:02.277" v="28" actId="20577"/>
        <pc:sldMkLst>
          <pc:docMk/>
          <pc:sldMk cId="0" sldId="260"/>
        </pc:sldMkLst>
        <pc:spChg chg="mod">
          <ac:chgData name="abhishek jha" userId="8be11afde703b81e" providerId="LiveId" clId="{AF3BF3DE-7253-4819-A7C9-F4027D6A5FEE}" dt="2026-10-23T04:24:02.277" v="28" actId="20577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abhishek jha" userId="8be11afde703b81e" providerId="LiveId" clId="{AF3BF3DE-7253-4819-A7C9-F4027D6A5FEE}" dt="2026-10-23T04:24:26.879" v="29" actId="14100"/>
        <pc:sldMkLst>
          <pc:docMk/>
          <pc:sldMk cId="0" sldId="261"/>
        </pc:sldMkLst>
        <pc:spChg chg="mod">
          <ac:chgData name="abhishek jha" userId="8be11afde703b81e" providerId="LiveId" clId="{AF3BF3DE-7253-4819-A7C9-F4027D6A5FEE}" dt="2026-10-23T04:24:26.879" v="29" actId="14100"/>
          <ac:spMkLst>
            <pc:docMk/>
            <pc:sldMk cId="0" sldId="261"/>
            <ac:spMk id="24" creationId="{00000000-0000-0000-0000-000000000000}"/>
          </ac:spMkLst>
        </pc:spChg>
      </pc:sldChg>
      <pc:sldChg chg="modSp mod">
        <pc:chgData name="abhishek jha" userId="8be11afde703b81e" providerId="LiveId" clId="{AF3BF3DE-7253-4819-A7C9-F4027D6A5FEE}" dt="2026-10-23T04:24:48.137" v="31" actId="1076"/>
        <pc:sldMkLst>
          <pc:docMk/>
          <pc:sldMk cId="0" sldId="262"/>
        </pc:sldMkLst>
        <pc:spChg chg="mod">
          <ac:chgData name="abhishek jha" userId="8be11afde703b81e" providerId="LiveId" clId="{AF3BF3DE-7253-4819-A7C9-F4027D6A5FEE}" dt="2026-10-23T04:24:39.655" v="30" actId="14100"/>
          <ac:spMkLst>
            <pc:docMk/>
            <pc:sldMk cId="0" sldId="262"/>
            <ac:spMk id="29" creationId="{00000000-0000-0000-0000-000000000000}"/>
          </ac:spMkLst>
        </pc:spChg>
        <pc:spChg chg="mod">
          <ac:chgData name="abhishek jha" userId="8be11afde703b81e" providerId="LiveId" clId="{AF3BF3DE-7253-4819-A7C9-F4027D6A5FEE}" dt="2026-10-23T04:24:48.137" v="31" actId="1076"/>
          <ac:spMkLst>
            <pc:docMk/>
            <pc:sldMk cId="0" sldId="262"/>
            <ac:spMk id="31" creationId="{00000000-0000-0000-0000-000000000000}"/>
          </ac:spMkLst>
        </pc:spChg>
      </pc:sldChg>
      <pc:sldChg chg="addSp modSp new mod">
        <pc:chgData name="abhishek jha" userId="8be11afde703b81e" providerId="LiveId" clId="{AF3BF3DE-7253-4819-A7C9-F4027D6A5FEE}" dt="2026-10-22T09:19:34.204" v="24" actId="14100"/>
        <pc:sldMkLst>
          <pc:docMk/>
          <pc:sldMk cId="129001366" sldId="267"/>
        </pc:sldMkLst>
        <pc:spChg chg="add mod">
          <ac:chgData name="abhishek jha" userId="8be11afde703b81e" providerId="LiveId" clId="{AF3BF3DE-7253-4819-A7C9-F4027D6A5FEE}" dt="2026-10-22T09:19:34.204" v="24" actId="14100"/>
          <ac:spMkLst>
            <pc:docMk/>
            <pc:sldMk cId="129001366" sldId="267"/>
            <ac:spMk id="2" creationId="{B5AB3412-2751-BAF7-E9B8-89062DF2F4A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8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0.svg"/><Relationship Id="rId7" Type="http://schemas.openxmlformats.org/officeDocument/2006/relationships/image" Target="../media/image1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Relationship Id="rId9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28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2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45.svg"/><Relationship Id="rId3" Type="http://schemas.openxmlformats.org/officeDocument/2006/relationships/image" Target="../media/image37.svg"/><Relationship Id="rId7" Type="http://schemas.openxmlformats.org/officeDocument/2006/relationships/image" Target="../media/image10.svg"/><Relationship Id="rId12" Type="http://schemas.openxmlformats.org/officeDocument/2006/relationships/image" Target="../media/image44.sv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11" Type="http://schemas.openxmlformats.org/officeDocument/2006/relationships/image" Target="../media/image43.svg"/><Relationship Id="rId5" Type="http://schemas.openxmlformats.org/officeDocument/2006/relationships/image" Target="../media/image39.svg"/><Relationship Id="rId10" Type="http://schemas.openxmlformats.org/officeDocument/2006/relationships/image" Target="../media/image42.svg"/><Relationship Id="rId4" Type="http://schemas.openxmlformats.org/officeDocument/2006/relationships/image" Target="../media/image38.svg"/><Relationship Id="rId9" Type="http://schemas.openxmlformats.org/officeDocument/2006/relationships/image" Target="../media/image4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7.svg"/><Relationship Id="rId7" Type="http://schemas.openxmlformats.org/officeDocument/2006/relationships/image" Target="../media/image11.svg"/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7" Type="http://schemas.openxmlformats.org/officeDocument/2006/relationships/image" Target="../media/image54.svg"/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11.svg"/><Relationship Id="rId7" Type="http://schemas.openxmlformats.org/officeDocument/2006/relationships/image" Target="../media/image58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svg"/><Relationship Id="rId5" Type="http://schemas.openxmlformats.org/officeDocument/2006/relationships/image" Target="../media/image56.svg"/><Relationship Id="rId10" Type="http://schemas.openxmlformats.org/officeDocument/2006/relationships/image" Target="../media/image61.svg"/><Relationship Id="rId4" Type="http://schemas.openxmlformats.org/officeDocument/2006/relationships/image" Target="../media/image55.svg"/><Relationship Id="rId9" Type="http://schemas.openxmlformats.org/officeDocument/2006/relationships/image" Target="../media/image60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557995" cy="1537097"/>
            <a:chOff x="0" y="0"/>
            <a:chExt cx="2077326" cy="2049462"/>
          </a:xfrm>
        </p:grpSpPr>
        <p:sp>
          <p:nvSpPr>
            <p:cNvPr id="3" name="Freeform 3" descr="JSPM s Rajarshi Shahu College of Engineering, Tathawade - 2023 Admission,  Fees, Courses, Ranking, Placement"/>
            <p:cNvSpPr/>
            <p:nvPr/>
          </p:nvSpPr>
          <p:spPr>
            <a:xfrm>
              <a:off x="0" y="0"/>
              <a:ext cx="2077339" cy="2049399"/>
            </a:xfrm>
            <a:custGeom>
              <a:avLst/>
              <a:gdLst/>
              <a:ahLst/>
              <a:cxnLst/>
              <a:rect l="l" t="t" r="r" b="b"/>
              <a:pathLst>
                <a:path w="2077339" h="2049399">
                  <a:moveTo>
                    <a:pt x="0" y="0"/>
                  </a:moveTo>
                  <a:lnTo>
                    <a:pt x="2077339" y="0"/>
                  </a:lnTo>
                  <a:lnTo>
                    <a:pt x="2077339" y="2049399"/>
                  </a:lnTo>
                  <a:lnTo>
                    <a:pt x="0" y="2049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693" b="-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488813" y="61798"/>
            <a:ext cx="1505607" cy="1406519"/>
            <a:chOff x="0" y="0"/>
            <a:chExt cx="2007476" cy="18753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07489" cy="1875409"/>
            </a:xfrm>
            <a:custGeom>
              <a:avLst/>
              <a:gdLst/>
              <a:ahLst/>
              <a:cxnLst/>
              <a:rect l="l" t="t" r="r" b="b"/>
              <a:pathLst>
                <a:path w="2007489" h="1875409">
                  <a:moveTo>
                    <a:pt x="0" y="0"/>
                  </a:moveTo>
                  <a:lnTo>
                    <a:pt x="2007489" y="0"/>
                  </a:lnTo>
                  <a:lnTo>
                    <a:pt x="2007489" y="1875409"/>
                  </a:lnTo>
                  <a:lnTo>
                    <a:pt x="0" y="1875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47" r="-1346" b="2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649435" y="-18983"/>
            <a:ext cx="14531912" cy="144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spc="16">
                <a:solidFill>
                  <a:srgbClr val="000000"/>
                </a:solidFill>
                <a:latin typeface="TT Phobos Bold"/>
                <a:ea typeface="TT Phobos Bold"/>
                <a:cs typeface="Times New Roman" panose="02020603050405020304" pitchFamily="18" charset="0"/>
                <a:sym typeface="TT Phobos Bold"/>
              </a:rPr>
              <a:t>JSPM’s </a:t>
            </a:r>
          </a:p>
          <a:p>
            <a:pPr algn="ctr">
              <a:lnSpc>
                <a:spcPts val="2520"/>
              </a:lnSpc>
            </a:pPr>
            <a:r>
              <a:rPr lang="en-US" sz="2100" b="1" spc="16">
                <a:solidFill>
                  <a:srgbClr val="000000"/>
                </a:solidFill>
                <a:latin typeface="TT Phobos Bold"/>
                <a:ea typeface="TT Phobos Bold"/>
                <a:cs typeface="Times New Roman" panose="02020603050405020304" pitchFamily="18" charset="0"/>
                <a:sym typeface="TT Phobos Bold"/>
              </a:rPr>
              <a:t>Rajarshi Shahu College of Engineering, Tathawade, Pune</a:t>
            </a:r>
          </a:p>
          <a:p>
            <a:pPr algn="ctr">
              <a:lnSpc>
                <a:spcPts val="2160"/>
              </a:lnSpc>
            </a:pPr>
            <a:r>
              <a:rPr lang="en-US" sz="1800" b="1" spc="14">
                <a:solidFill>
                  <a:srgbClr val="000000"/>
                </a:solidFill>
                <a:latin typeface="TT Phobos Bold"/>
                <a:ea typeface="TT Phobos Bold"/>
                <a:cs typeface="Times New Roman" panose="02020603050405020304" pitchFamily="18" charset="0"/>
                <a:sym typeface="TT Phobos Bold"/>
              </a:rPr>
              <a:t>(An Autonomous Institute affiliated to Savitribai Phule Pune University)</a:t>
            </a:r>
          </a:p>
          <a:p>
            <a:pPr algn="ctr">
              <a:lnSpc>
                <a:spcPts val="3240"/>
              </a:lnSpc>
            </a:pPr>
            <a:r>
              <a:rPr lang="en-US" sz="2700" b="1" spc="21">
                <a:solidFill>
                  <a:srgbClr val="000000"/>
                </a:solidFill>
                <a:latin typeface="TT Phobos Bold"/>
                <a:ea typeface="TT Phobos Bold"/>
                <a:cs typeface="Times New Roman" panose="02020603050405020304" pitchFamily="18" charset="0"/>
                <a:sym typeface="TT Phobos Bold"/>
              </a:rPr>
              <a:t>Department of Computer Science and Business Systems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" y="1345997"/>
            <a:ext cx="18105120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Year: 2026-27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9453" y="3057315"/>
            <a:ext cx="17889093" cy="144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1" u="sng" spc="418" dirty="0">
                <a:solidFill>
                  <a:srgbClr val="000000"/>
                </a:solidFill>
                <a:latin typeface="Times New Roman" panose="02020603050405020304" pitchFamily="18" charset="0"/>
                <a:ea typeface="TT Ramillas Bold"/>
                <a:cs typeface="Times New Roman" panose="02020603050405020304" pitchFamily="18" charset="0"/>
                <a:sym typeface="TT Ramillas Bold"/>
              </a:rPr>
              <a:t>Project Title:</a:t>
            </a:r>
            <a:r>
              <a:rPr lang="en-US" sz="3399" b="1" u="sng" spc="418" dirty="0">
                <a:solidFill>
                  <a:srgbClr val="000000"/>
                </a:solidFill>
                <a:latin typeface="Times New Roman" panose="02020603050405020304" pitchFamily="18" charset="0"/>
                <a:ea typeface="TT Ramillas"/>
                <a:cs typeface="Times New Roman" panose="02020603050405020304" pitchFamily="18" charset="0"/>
                <a:sym typeface="TT Ramillas"/>
              </a:rPr>
              <a:t>  </a:t>
            </a:r>
            <a:r>
              <a:rPr lang="en-US" sz="3399" b="1" u="sng" spc="418" dirty="0">
                <a:solidFill>
                  <a:srgbClr val="000000"/>
                </a:solidFill>
                <a:latin typeface="Times New Roman" panose="02020603050405020304" pitchFamily="18" charset="0"/>
                <a:ea typeface="TT Ramillas Bold"/>
                <a:cs typeface="Times New Roman" panose="02020603050405020304" pitchFamily="18" charset="0"/>
                <a:sym typeface="TT Ramillas Bold"/>
              </a:rPr>
              <a:t>EXPENSE MANAGEMENT SYSTEM</a:t>
            </a:r>
          </a:p>
          <a:p>
            <a:pPr algn="ctr">
              <a:lnSpc>
                <a:spcPts val="3600"/>
              </a:lnSpc>
            </a:pPr>
            <a:endParaRPr lang="en-US" sz="3399" b="1" u="sng" spc="418" dirty="0">
              <a:solidFill>
                <a:srgbClr val="000000"/>
              </a:solidFill>
              <a:latin typeface="Times New Roman" panose="02020603050405020304" pitchFamily="18" charset="0"/>
              <a:ea typeface="TT Ramillas Bold"/>
              <a:cs typeface="Times New Roman" panose="02020603050405020304" pitchFamily="18" charset="0"/>
              <a:sym typeface="TT Ramillas Bold"/>
            </a:endParaRPr>
          </a:p>
          <a:p>
            <a:pPr algn="ctr">
              <a:lnSpc>
                <a:spcPts val="3600"/>
              </a:lnSpc>
            </a:pPr>
            <a:endParaRPr lang="en-US" sz="3399" b="1" u="sng" spc="418" dirty="0">
              <a:solidFill>
                <a:srgbClr val="000000"/>
              </a:solidFill>
              <a:latin typeface="Times New Roman" panose="02020603050405020304" pitchFamily="18" charset="0"/>
              <a:ea typeface="TT Ramillas Bold"/>
              <a:cs typeface="Times New Roman" panose="02020603050405020304" pitchFamily="18" charset="0"/>
              <a:sym typeface="TT Ramillas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460177" y="5714790"/>
            <a:ext cx="8910428" cy="3501188"/>
            <a:chOff x="0" y="0"/>
            <a:chExt cx="11880570" cy="46682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880575" cy="4668254"/>
            </a:xfrm>
            <a:custGeom>
              <a:avLst/>
              <a:gdLst/>
              <a:ahLst/>
              <a:cxnLst/>
              <a:rect l="l" t="t" r="r" b="b"/>
              <a:pathLst>
                <a:path w="11880575" h="4668254">
                  <a:moveTo>
                    <a:pt x="0" y="0"/>
                  </a:moveTo>
                  <a:lnTo>
                    <a:pt x="11880575" y="0"/>
                  </a:lnTo>
                  <a:lnTo>
                    <a:pt x="11880575" y="4668254"/>
                  </a:lnTo>
                  <a:lnTo>
                    <a:pt x="0" y="46682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67" r="6929" b="435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71450"/>
              <a:ext cx="11880570" cy="48397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33"/>
                </a:lnSpc>
              </a:pPr>
              <a:r>
                <a:rPr lang="en-US" sz="2700" b="1" spc="-10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Students Name : </a:t>
              </a:r>
              <a:r>
                <a:rPr lang="en-US" sz="2700" spc="-1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Shrushti </a:t>
              </a:r>
              <a:r>
                <a:rPr lang="en-US" sz="2700" spc="-1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Janbandhu</a:t>
              </a:r>
              <a:r>
                <a:rPr lang="en-US" sz="2700" spc="-1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(RBT24CB063)</a:t>
              </a:r>
            </a:p>
            <a:p>
              <a:pPr algn="l">
                <a:lnSpc>
                  <a:spcPts val="4833"/>
                </a:lnSpc>
              </a:pPr>
              <a:r>
                <a:rPr lang="en-US" sz="2700" spc="-12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           Abhishek Kumar Jha (RBT24AR027)</a:t>
              </a:r>
            </a:p>
            <a:p>
              <a:pPr algn="l">
                <a:lnSpc>
                  <a:spcPts val="6480"/>
                </a:lnSpc>
              </a:pPr>
              <a:r>
                <a:rPr lang="en-US" sz="2700" b="1" spc="-12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Course Name:  </a:t>
              </a:r>
              <a:r>
                <a:rPr lang="en-US" sz="2700" spc="-12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Skill Development Lab-II</a:t>
              </a:r>
            </a:p>
            <a:p>
              <a:pPr algn="l">
                <a:lnSpc>
                  <a:spcPts val="6480"/>
                </a:lnSpc>
              </a:pPr>
              <a:r>
                <a:rPr lang="en-US" sz="2700" spc="-12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r>
                <a:rPr lang="en-US" sz="2700" b="1" spc="-12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Course Coordinator: </a:t>
              </a:r>
              <a:r>
                <a:rPr lang="en-US" sz="2700" spc="-12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Prof. Rutuja S. </a:t>
              </a:r>
              <a:r>
                <a:rPr lang="en-US" sz="2700" spc="-12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Bachhav</a:t>
              </a:r>
              <a:r>
                <a:rPr lang="en-US" sz="2700" spc="-12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2053" y="1609273"/>
            <a:ext cx="4941946" cy="1650121"/>
          </a:xfrm>
          <a:custGeom>
            <a:avLst/>
            <a:gdLst/>
            <a:ahLst/>
            <a:cxnLst/>
            <a:rect l="l" t="t" r="r" b="b"/>
            <a:pathLst>
              <a:path w="4941946" h="1650121">
                <a:moveTo>
                  <a:pt x="0" y="0"/>
                </a:moveTo>
                <a:lnTo>
                  <a:pt x="4941946" y="0"/>
                </a:lnTo>
                <a:lnTo>
                  <a:pt x="4941946" y="1650120"/>
                </a:lnTo>
                <a:lnTo>
                  <a:pt x="0" y="1650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2053" y="3666673"/>
            <a:ext cx="4941946" cy="1650121"/>
          </a:xfrm>
          <a:custGeom>
            <a:avLst/>
            <a:gdLst/>
            <a:ahLst/>
            <a:cxnLst/>
            <a:rect l="l" t="t" r="r" b="b"/>
            <a:pathLst>
              <a:path w="4941946" h="1650121">
                <a:moveTo>
                  <a:pt x="0" y="0"/>
                </a:moveTo>
                <a:lnTo>
                  <a:pt x="4941946" y="0"/>
                </a:lnTo>
                <a:lnTo>
                  <a:pt x="4941946" y="1650120"/>
                </a:lnTo>
                <a:lnTo>
                  <a:pt x="0" y="1650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2053" y="5724073"/>
            <a:ext cx="4941946" cy="1650106"/>
          </a:xfrm>
          <a:custGeom>
            <a:avLst/>
            <a:gdLst/>
            <a:ahLst/>
            <a:cxnLst/>
            <a:rect l="l" t="t" r="r" b="b"/>
            <a:pathLst>
              <a:path w="4941946" h="1650106">
                <a:moveTo>
                  <a:pt x="0" y="0"/>
                </a:moveTo>
                <a:lnTo>
                  <a:pt x="4941946" y="0"/>
                </a:lnTo>
                <a:lnTo>
                  <a:pt x="4941946" y="1650106"/>
                </a:lnTo>
                <a:lnTo>
                  <a:pt x="0" y="16501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684193" y="1609273"/>
            <a:ext cx="4941946" cy="1650121"/>
          </a:xfrm>
          <a:custGeom>
            <a:avLst/>
            <a:gdLst/>
            <a:ahLst/>
            <a:cxnLst/>
            <a:rect l="l" t="t" r="r" b="b"/>
            <a:pathLst>
              <a:path w="4941946" h="1650121">
                <a:moveTo>
                  <a:pt x="0" y="0"/>
                </a:moveTo>
                <a:lnTo>
                  <a:pt x="4941946" y="0"/>
                </a:lnTo>
                <a:lnTo>
                  <a:pt x="4941946" y="1650120"/>
                </a:lnTo>
                <a:lnTo>
                  <a:pt x="0" y="1650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684193" y="3666673"/>
            <a:ext cx="4941946" cy="1650121"/>
          </a:xfrm>
          <a:custGeom>
            <a:avLst/>
            <a:gdLst/>
            <a:ahLst/>
            <a:cxnLst/>
            <a:rect l="l" t="t" r="r" b="b"/>
            <a:pathLst>
              <a:path w="4941946" h="1650121">
                <a:moveTo>
                  <a:pt x="0" y="0"/>
                </a:moveTo>
                <a:lnTo>
                  <a:pt x="4941946" y="0"/>
                </a:lnTo>
                <a:lnTo>
                  <a:pt x="4941946" y="1650120"/>
                </a:lnTo>
                <a:lnTo>
                  <a:pt x="0" y="1650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684193" y="5724073"/>
            <a:ext cx="4941946" cy="1650106"/>
          </a:xfrm>
          <a:custGeom>
            <a:avLst/>
            <a:gdLst/>
            <a:ahLst/>
            <a:cxnLst/>
            <a:rect l="l" t="t" r="r" b="b"/>
            <a:pathLst>
              <a:path w="4941946" h="1650106">
                <a:moveTo>
                  <a:pt x="0" y="0"/>
                </a:moveTo>
                <a:lnTo>
                  <a:pt x="4941946" y="0"/>
                </a:lnTo>
                <a:lnTo>
                  <a:pt x="4941946" y="1650106"/>
                </a:lnTo>
                <a:lnTo>
                  <a:pt x="0" y="16501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14"/>
            <a:ext cx="18287643" cy="164135"/>
          </a:xfrm>
          <a:custGeom>
            <a:avLst/>
            <a:gdLst/>
            <a:ahLst/>
            <a:cxnLst/>
            <a:rect l="l" t="t" r="r" b="b"/>
            <a:pathLst>
              <a:path w="18287643" h="164135">
                <a:moveTo>
                  <a:pt x="0" y="0"/>
                </a:moveTo>
                <a:lnTo>
                  <a:pt x="18287643" y="0"/>
                </a:lnTo>
                <a:lnTo>
                  <a:pt x="18287643" y="164135"/>
                </a:lnTo>
                <a:lnTo>
                  <a:pt x="0" y="164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91011" y="1274945"/>
            <a:ext cx="16458643" cy="24303"/>
          </a:xfrm>
          <a:custGeom>
            <a:avLst/>
            <a:gdLst/>
            <a:ahLst/>
            <a:cxnLst/>
            <a:rect l="l" t="t" r="r" b="b"/>
            <a:pathLst>
              <a:path w="16458643" h="24303">
                <a:moveTo>
                  <a:pt x="0" y="0"/>
                </a:moveTo>
                <a:lnTo>
                  <a:pt x="16458643" y="0"/>
                </a:lnTo>
                <a:lnTo>
                  <a:pt x="16458643" y="24303"/>
                </a:lnTo>
                <a:lnTo>
                  <a:pt x="0" y="24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376333" y="1609273"/>
            <a:ext cx="4941946" cy="1650121"/>
          </a:xfrm>
          <a:custGeom>
            <a:avLst/>
            <a:gdLst/>
            <a:ahLst/>
            <a:cxnLst/>
            <a:rect l="l" t="t" r="r" b="b"/>
            <a:pathLst>
              <a:path w="4941946" h="1650121">
                <a:moveTo>
                  <a:pt x="0" y="0"/>
                </a:moveTo>
                <a:lnTo>
                  <a:pt x="4941946" y="0"/>
                </a:lnTo>
                <a:lnTo>
                  <a:pt x="4941946" y="1650120"/>
                </a:lnTo>
                <a:lnTo>
                  <a:pt x="0" y="1650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376333" y="3666673"/>
            <a:ext cx="4941946" cy="1650121"/>
          </a:xfrm>
          <a:custGeom>
            <a:avLst/>
            <a:gdLst/>
            <a:ahLst/>
            <a:cxnLst/>
            <a:rect l="l" t="t" r="r" b="b"/>
            <a:pathLst>
              <a:path w="4941946" h="1650121">
                <a:moveTo>
                  <a:pt x="0" y="0"/>
                </a:moveTo>
                <a:lnTo>
                  <a:pt x="4941946" y="0"/>
                </a:lnTo>
                <a:lnTo>
                  <a:pt x="4941946" y="1650120"/>
                </a:lnTo>
                <a:lnTo>
                  <a:pt x="0" y="1650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376333" y="5724073"/>
            <a:ext cx="4941946" cy="1650106"/>
          </a:xfrm>
          <a:custGeom>
            <a:avLst/>
            <a:gdLst/>
            <a:ahLst/>
            <a:cxnLst/>
            <a:rect l="l" t="t" r="r" b="b"/>
            <a:pathLst>
              <a:path w="4941946" h="1650106">
                <a:moveTo>
                  <a:pt x="0" y="0"/>
                </a:moveTo>
                <a:lnTo>
                  <a:pt x="4941946" y="0"/>
                </a:lnTo>
                <a:lnTo>
                  <a:pt x="4941946" y="1650106"/>
                </a:lnTo>
                <a:lnTo>
                  <a:pt x="0" y="16501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91011" y="407989"/>
            <a:ext cx="1483914" cy="71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2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Index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018113" y="9758348"/>
            <a:ext cx="200025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55957" y="548640"/>
            <a:ext cx="913586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OVERVIEW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0816" y="2254610"/>
            <a:ext cx="266548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10816" y="4312010"/>
            <a:ext cx="266548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10816" y="6369410"/>
            <a:ext cx="266548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59266" y="4331970"/>
            <a:ext cx="1909882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Feasibility Study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59266" y="2274570"/>
            <a:ext cx="3104217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Introduction / Background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59266" y="6389370"/>
            <a:ext cx="3049467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Implementation &amp; Results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02956" y="2254610"/>
            <a:ext cx="266548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02956" y="4312010"/>
            <a:ext cx="266548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02956" y="6369410"/>
            <a:ext cx="266548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08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51406" y="6389370"/>
            <a:ext cx="1273331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Conclusion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51406" y="4232910"/>
            <a:ext cx="1997478" cy="54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798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System Design &amp; Architecture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51406" y="2175510"/>
            <a:ext cx="2497498" cy="54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798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Problem Definition &amp; Objectives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95096" y="2254610"/>
            <a:ext cx="266548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995096" y="4312010"/>
            <a:ext cx="266548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995096" y="6369410"/>
            <a:ext cx="266548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09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743546" y="6389370"/>
            <a:ext cx="1284518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References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743546" y="2274570"/>
            <a:ext cx="2021953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Literature Survey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743546" y="4331970"/>
            <a:ext cx="2848627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Technology &amp; Tools Used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91011" y="9792605"/>
            <a:ext cx="3105231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SKILL DEVELOPMENT LAB–II • AY 2026–27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2053" y="3118033"/>
            <a:ext cx="5353426" cy="3021706"/>
          </a:xfrm>
          <a:custGeom>
            <a:avLst/>
            <a:gdLst/>
            <a:ahLst/>
            <a:cxnLst/>
            <a:rect l="l" t="t" r="r" b="b"/>
            <a:pathLst>
              <a:path w="5353426" h="3021706">
                <a:moveTo>
                  <a:pt x="0" y="0"/>
                </a:moveTo>
                <a:lnTo>
                  <a:pt x="5353426" y="0"/>
                </a:lnTo>
                <a:lnTo>
                  <a:pt x="5353426" y="3021706"/>
                </a:lnTo>
                <a:lnTo>
                  <a:pt x="0" y="3021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78453" y="3118033"/>
            <a:ext cx="5353426" cy="3021706"/>
          </a:xfrm>
          <a:custGeom>
            <a:avLst/>
            <a:gdLst/>
            <a:ahLst/>
            <a:cxnLst/>
            <a:rect l="l" t="t" r="r" b="b"/>
            <a:pathLst>
              <a:path w="5353426" h="3021706">
                <a:moveTo>
                  <a:pt x="0" y="0"/>
                </a:moveTo>
                <a:lnTo>
                  <a:pt x="5353426" y="0"/>
                </a:lnTo>
                <a:lnTo>
                  <a:pt x="5353426" y="3021706"/>
                </a:lnTo>
                <a:lnTo>
                  <a:pt x="0" y="3021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14"/>
            <a:ext cx="18287643" cy="164135"/>
          </a:xfrm>
          <a:custGeom>
            <a:avLst/>
            <a:gdLst/>
            <a:ahLst/>
            <a:cxnLst/>
            <a:rect l="l" t="t" r="r" b="b"/>
            <a:pathLst>
              <a:path w="18287643" h="164135">
                <a:moveTo>
                  <a:pt x="0" y="0"/>
                </a:moveTo>
                <a:lnTo>
                  <a:pt x="18287643" y="0"/>
                </a:lnTo>
                <a:lnTo>
                  <a:pt x="18287643" y="164135"/>
                </a:lnTo>
                <a:lnTo>
                  <a:pt x="0" y="164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91011" y="1274945"/>
            <a:ext cx="16458643" cy="24303"/>
          </a:xfrm>
          <a:custGeom>
            <a:avLst/>
            <a:gdLst/>
            <a:ahLst/>
            <a:cxnLst/>
            <a:rect l="l" t="t" r="r" b="b"/>
            <a:pathLst>
              <a:path w="16458643" h="24303">
                <a:moveTo>
                  <a:pt x="0" y="0"/>
                </a:moveTo>
                <a:lnTo>
                  <a:pt x="16458643" y="0"/>
                </a:lnTo>
                <a:lnTo>
                  <a:pt x="16458643" y="24303"/>
                </a:lnTo>
                <a:lnTo>
                  <a:pt x="0" y="24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964853" y="3118033"/>
            <a:ext cx="5353426" cy="3021706"/>
          </a:xfrm>
          <a:custGeom>
            <a:avLst/>
            <a:gdLst/>
            <a:ahLst/>
            <a:cxnLst/>
            <a:rect l="l" t="t" r="r" b="b"/>
            <a:pathLst>
              <a:path w="5353426" h="3021706">
                <a:moveTo>
                  <a:pt x="0" y="0"/>
                </a:moveTo>
                <a:lnTo>
                  <a:pt x="5353426" y="0"/>
                </a:lnTo>
                <a:lnTo>
                  <a:pt x="5353426" y="3021706"/>
                </a:lnTo>
                <a:lnTo>
                  <a:pt x="0" y="3021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29213" y="7370521"/>
            <a:ext cx="15982798" cy="1279131"/>
          </a:xfrm>
          <a:custGeom>
            <a:avLst/>
            <a:gdLst/>
            <a:ahLst/>
            <a:cxnLst/>
            <a:rect l="l" t="t" r="r" b="b"/>
            <a:pathLst>
              <a:path w="15982798" h="1279131">
                <a:moveTo>
                  <a:pt x="0" y="0"/>
                </a:moveTo>
                <a:lnTo>
                  <a:pt x="15982797" y="0"/>
                </a:lnTo>
                <a:lnTo>
                  <a:pt x="15982797" y="1279131"/>
                </a:lnTo>
                <a:lnTo>
                  <a:pt x="0" y="1279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91011" y="407989"/>
            <a:ext cx="6992317" cy="71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2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Introduction / Background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7397" y="1626727"/>
            <a:ext cx="85925" cy="44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1"/>
              </a:lnSpc>
            </a:pPr>
            <a:r>
              <a:rPr lang="en-US" sz="25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018113" y="9758348"/>
            <a:ext cx="200025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60713" y="548640"/>
            <a:ext cx="807101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CONTEXT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4269" y="1626727"/>
            <a:ext cx="16117300" cy="44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1"/>
              </a:lnSpc>
            </a:pPr>
            <a:r>
              <a:rPr lang="en-US" sz="25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TheExpense Management Systemisa Java-based web application that helps users record, manage and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4269" y="2015519"/>
            <a:ext cx="15630825" cy="44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1"/>
              </a:lnSpc>
            </a:pPr>
            <a:r>
              <a:rPr lang="en-US" sz="25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monitor daily expenses in a structured way. Expense data is stored persistently in a MySQL database.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8760" y="7715455"/>
            <a:ext cx="669269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User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1071" y="3463495"/>
            <a:ext cx="2425346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Record expenses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99377" y="3992266"/>
            <a:ext cx="65737" cy="3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69180" y="7715455"/>
            <a:ext cx="1419249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Web form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57471" y="3463495"/>
            <a:ext cx="2333863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Manage records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48601" y="3992266"/>
            <a:ext cx="65737" cy="3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0" y="7715455"/>
            <a:ext cx="1381087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Java logic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90020" y="7715455"/>
            <a:ext cx="1370886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Database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43871" y="3463495"/>
            <a:ext cx="2590552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Monitor spending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50106" y="3992266"/>
            <a:ext cx="65737" cy="3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950440" y="7715455"/>
            <a:ext cx="1578926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Dashboard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98589" y="3992266"/>
            <a:ext cx="4481932" cy="3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Capture title,amount, category, date,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98589" y="4289803"/>
            <a:ext cx="4024589" cy="3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payment method and description.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84989" y="3992266"/>
            <a:ext cx="4450085" cy="3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Create, view,edit and delete expense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84989" y="4289803"/>
            <a:ext cx="4008415" cy="3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entries through CRUD operations.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71389" y="3992266"/>
            <a:ext cx="4719576" cy="3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Dashboardsummarizes total spending,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71389" y="4327903"/>
            <a:ext cx="3570018" cy="614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expense count, category-wise spending and recent entries.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65331" y="6815614"/>
            <a:ext cx="2726841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APPLICATION FLOW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91011" y="9792605"/>
            <a:ext cx="3105231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SKILL DEVELOPMENT LAB–II • AY 2026–27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1495" y="1746433"/>
            <a:ext cx="7890915" cy="3021706"/>
          </a:xfrm>
          <a:custGeom>
            <a:avLst/>
            <a:gdLst/>
            <a:ahLst/>
            <a:cxnLst/>
            <a:rect l="l" t="t" r="r" b="b"/>
            <a:pathLst>
              <a:path w="7890915" h="3021706">
                <a:moveTo>
                  <a:pt x="0" y="0"/>
                </a:moveTo>
                <a:lnTo>
                  <a:pt x="7890915" y="0"/>
                </a:lnTo>
                <a:lnTo>
                  <a:pt x="7890915" y="3021706"/>
                </a:lnTo>
                <a:lnTo>
                  <a:pt x="0" y="3021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1600" y="5897880"/>
            <a:ext cx="480060" cy="480060"/>
          </a:xfrm>
          <a:custGeom>
            <a:avLst/>
            <a:gdLst/>
            <a:ahLst/>
            <a:cxnLst/>
            <a:rect l="l" t="t" r="r" b="b"/>
            <a:pathLst>
              <a:path w="480060" h="480060">
                <a:moveTo>
                  <a:pt x="0" y="0"/>
                </a:moveTo>
                <a:lnTo>
                  <a:pt x="480060" y="0"/>
                </a:lnTo>
                <a:lnTo>
                  <a:pt x="48006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1600" y="6652260"/>
            <a:ext cx="480060" cy="480060"/>
          </a:xfrm>
          <a:custGeom>
            <a:avLst/>
            <a:gdLst/>
            <a:ahLst/>
            <a:cxnLst/>
            <a:rect l="l" t="t" r="r" b="b"/>
            <a:pathLst>
              <a:path w="480060" h="480060">
                <a:moveTo>
                  <a:pt x="0" y="0"/>
                </a:moveTo>
                <a:lnTo>
                  <a:pt x="480060" y="0"/>
                </a:lnTo>
                <a:lnTo>
                  <a:pt x="48006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71600" y="7406640"/>
            <a:ext cx="480060" cy="480060"/>
          </a:xfrm>
          <a:custGeom>
            <a:avLst/>
            <a:gdLst/>
            <a:ahLst/>
            <a:cxnLst/>
            <a:rect l="l" t="t" r="r" b="b"/>
            <a:pathLst>
              <a:path w="480060" h="480060">
                <a:moveTo>
                  <a:pt x="0" y="0"/>
                </a:moveTo>
                <a:lnTo>
                  <a:pt x="480060" y="0"/>
                </a:lnTo>
                <a:lnTo>
                  <a:pt x="48006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71600" y="8161020"/>
            <a:ext cx="480060" cy="480060"/>
          </a:xfrm>
          <a:custGeom>
            <a:avLst/>
            <a:gdLst/>
            <a:ahLst/>
            <a:cxnLst/>
            <a:rect l="l" t="t" r="r" b="b"/>
            <a:pathLst>
              <a:path w="480060" h="480060">
                <a:moveTo>
                  <a:pt x="0" y="0"/>
                </a:moveTo>
                <a:lnTo>
                  <a:pt x="480060" y="0"/>
                </a:lnTo>
                <a:lnTo>
                  <a:pt x="480060" y="480060"/>
                </a:lnTo>
                <a:lnTo>
                  <a:pt x="0" y="4800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4"/>
            <a:ext cx="18287643" cy="164135"/>
          </a:xfrm>
          <a:custGeom>
            <a:avLst/>
            <a:gdLst/>
            <a:ahLst/>
            <a:cxnLst/>
            <a:rect l="l" t="t" r="r" b="b"/>
            <a:pathLst>
              <a:path w="18287643" h="164135">
                <a:moveTo>
                  <a:pt x="0" y="0"/>
                </a:moveTo>
                <a:lnTo>
                  <a:pt x="18287643" y="0"/>
                </a:lnTo>
                <a:lnTo>
                  <a:pt x="18287643" y="164135"/>
                </a:lnTo>
                <a:lnTo>
                  <a:pt x="0" y="164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91011" y="1274945"/>
            <a:ext cx="16458643" cy="24303"/>
          </a:xfrm>
          <a:custGeom>
            <a:avLst/>
            <a:gdLst/>
            <a:ahLst/>
            <a:cxnLst/>
            <a:rect l="l" t="t" r="r" b="b"/>
            <a:pathLst>
              <a:path w="16458643" h="24303">
                <a:moveTo>
                  <a:pt x="0" y="0"/>
                </a:moveTo>
                <a:lnTo>
                  <a:pt x="16458643" y="0"/>
                </a:lnTo>
                <a:lnTo>
                  <a:pt x="16458643" y="24303"/>
                </a:lnTo>
                <a:lnTo>
                  <a:pt x="0" y="24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221095" y="1746433"/>
            <a:ext cx="7890915" cy="3021706"/>
          </a:xfrm>
          <a:custGeom>
            <a:avLst/>
            <a:gdLst/>
            <a:ahLst/>
            <a:cxnLst/>
            <a:rect l="l" t="t" r="r" b="b"/>
            <a:pathLst>
              <a:path w="7890915" h="3021706">
                <a:moveTo>
                  <a:pt x="0" y="0"/>
                </a:moveTo>
                <a:lnTo>
                  <a:pt x="7890915" y="0"/>
                </a:lnTo>
                <a:lnTo>
                  <a:pt x="7890915" y="3021706"/>
                </a:lnTo>
                <a:lnTo>
                  <a:pt x="0" y="3021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91011" y="407989"/>
            <a:ext cx="8370718" cy="71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2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Problem Definition &amp; Objectives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018113" y="9758348"/>
            <a:ext cx="200025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784283" y="548640"/>
            <a:ext cx="578701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GOALS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1600" y="2139520"/>
            <a:ext cx="7297312" cy="1820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Problem definition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Daily expenses can be difficult to organize when records are scattered across notes or separate files. A structured system is needed to keep expense details together and make spending easier to review.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01200" y="2091895"/>
            <a:ext cx="2430004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Project objective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69430" y="2631848"/>
            <a:ext cx="70737" cy="369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28746" y="2631848"/>
            <a:ext cx="7168267" cy="369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Develop awebapplication that supports expense entry,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28746" y="2990174"/>
            <a:ext cx="6147926" cy="651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editing, deletion, viewing and dashboard-based monitoring, with persistent storage in MySQL.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3911" y="5375272"/>
            <a:ext cx="2404529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SPECIFIC OBJECTIVES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76811" y="5968475"/>
            <a:ext cx="88854" cy="371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7"/>
              </a:lnSpc>
            </a:pPr>
            <a:r>
              <a:rPr lang="en-US" sz="11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76811" y="6722855"/>
            <a:ext cx="88854" cy="371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7"/>
              </a:lnSpc>
            </a:pPr>
            <a:r>
              <a:rPr lang="en-US" sz="11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0 2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76811" y="7477235"/>
            <a:ext cx="88854" cy="371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7"/>
              </a:lnSpc>
            </a:pPr>
            <a:r>
              <a:rPr lang="en-US" sz="11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0 3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76811" y="8231615"/>
            <a:ext cx="88854" cy="371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37"/>
              </a:lnSpc>
            </a:pPr>
            <a:r>
              <a:rPr lang="en-US" sz="119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0 4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1011" y="9792605"/>
            <a:ext cx="3105231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SKILL DEVELOPMENT LAB–II • AY 2026–27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56871" y="5770259"/>
            <a:ext cx="7541271" cy="2818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Implement CRUD operations for expense records.</a:t>
            </a:r>
          </a:p>
          <a:p>
            <a:pPr algn="l">
              <a:lnSpc>
                <a:spcPts val="4879"/>
              </a:lnSpc>
              <a:spcBef>
                <a:spcPts val="1061"/>
              </a:spcBef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Store data persistently through JPA / EclipseLink and MySQL. Display totals, count, category-wise spend and recent expenses. Use a clean HTML/CSS/JSP interface with Java Servlets.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2053" y="2432233"/>
            <a:ext cx="4941946" cy="3707506"/>
          </a:xfrm>
          <a:custGeom>
            <a:avLst/>
            <a:gdLst/>
            <a:ahLst/>
            <a:cxnLst/>
            <a:rect l="l" t="t" r="r" b="b"/>
            <a:pathLst>
              <a:path w="4941946" h="3707506">
                <a:moveTo>
                  <a:pt x="0" y="0"/>
                </a:moveTo>
                <a:lnTo>
                  <a:pt x="4941946" y="0"/>
                </a:lnTo>
                <a:lnTo>
                  <a:pt x="4941946" y="3707506"/>
                </a:lnTo>
                <a:lnTo>
                  <a:pt x="0" y="37075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84193" y="2432233"/>
            <a:ext cx="4941946" cy="3707506"/>
          </a:xfrm>
          <a:custGeom>
            <a:avLst/>
            <a:gdLst/>
            <a:ahLst/>
            <a:cxnLst/>
            <a:rect l="l" t="t" r="r" b="b"/>
            <a:pathLst>
              <a:path w="4941946" h="3707506">
                <a:moveTo>
                  <a:pt x="0" y="0"/>
                </a:moveTo>
                <a:lnTo>
                  <a:pt x="4941946" y="0"/>
                </a:lnTo>
                <a:lnTo>
                  <a:pt x="4941946" y="3707506"/>
                </a:lnTo>
                <a:lnTo>
                  <a:pt x="0" y="37075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14"/>
            <a:ext cx="18287643" cy="164135"/>
          </a:xfrm>
          <a:custGeom>
            <a:avLst/>
            <a:gdLst/>
            <a:ahLst/>
            <a:cxnLst/>
            <a:rect l="l" t="t" r="r" b="b"/>
            <a:pathLst>
              <a:path w="18287643" h="164135">
                <a:moveTo>
                  <a:pt x="0" y="0"/>
                </a:moveTo>
                <a:lnTo>
                  <a:pt x="18287643" y="0"/>
                </a:lnTo>
                <a:lnTo>
                  <a:pt x="18287643" y="164135"/>
                </a:lnTo>
                <a:lnTo>
                  <a:pt x="0" y="164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91011" y="1274945"/>
            <a:ext cx="16458643" cy="24303"/>
          </a:xfrm>
          <a:custGeom>
            <a:avLst/>
            <a:gdLst/>
            <a:ahLst/>
            <a:cxnLst/>
            <a:rect l="l" t="t" r="r" b="b"/>
            <a:pathLst>
              <a:path w="16458643" h="24303">
                <a:moveTo>
                  <a:pt x="0" y="0"/>
                </a:moveTo>
                <a:lnTo>
                  <a:pt x="16458643" y="0"/>
                </a:lnTo>
                <a:lnTo>
                  <a:pt x="16458643" y="24303"/>
                </a:lnTo>
                <a:lnTo>
                  <a:pt x="0" y="24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92053" y="7095673"/>
            <a:ext cx="16326226" cy="1787266"/>
          </a:xfrm>
          <a:custGeom>
            <a:avLst/>
            <a:gdLst/>
            <a:ahLst/>
            <a:cxnLst/>
            <a:rect l="l" t="t" r="r" b="b"/>
            <a:pathLst>
              <a:path w="16326226" h="1787266">
                <a:moveTo>
                  <a:pt x="0" y="0"/>
                </a:moveTo>
                <a:lnTo>
                  <a:pt x="16326226" y="0"/>
                </a:lnTo>
                <a:lnTo>
                  <a:pt x="16326226" y="1787266"/>
                </a:lnTo>
                <a:lnTo>
                  <a:pt x="0" y="1787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376333" y="2432233"/>
            <a:ext cx="4941946" cy="3707506"/>
          </a:xfrm>
          <a:custGeom>
            <a:avLst/>
            <a:gdLst/>
            <a:ahLst/>
            <a:cxnLst/>
            <a:rect l="l" t="t" r="r" b="b"/>
            <a:pathLst>
              <a:path w="4941946" h="3707506">
                <a:moveTo>
                  <a:pt x="0" y="0"/>
                </a:moveTo>
                <a:lnTo>
                  <a:pt x="4941946" y="0"/>
                </a:lnTo>
                <a:lnTo>
                  <a:pt x="4941946" y="3707506"/>
                </a:lnTo>
                <a:lnTo>
                  <a:pt x="0" y="37075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91011" y="407989"/>
            <a:ext cx="4555155" cy="71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2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Literature Survey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84209" y="1670114"/>
            <a:ext cx="70737" cy="369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018113" y="9758348"/>
            <a:ext cx="200025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02202" y="548640"/>
            <a:ext cx="662769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5331" y="1670114"/>
            <a:ext cx="11686361" cy="348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Conceptual review of common approaches to tracking personal or organizational expenses.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1071" y="2777695"/>
            <a:ext cx="2258097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Manual records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63211" y="2777695"/>
            <a:ext cx="3109774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Spreadsheet tracking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94762" y="3306466"/>
            <a:ext cx="65737" cy="3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55351" y="2825320"/>
            <a:ext cx="3494951" cy="1726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Web-based system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• Centralized data entry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• Persistent database storage • Dashboard can summarize records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42677" y="7633373"/>
            <a:ext cx="15313714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This project combines a browser-based interface with Java server-side processing and MySQL persistence.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22772" y="8091940"/>
            <a:ext cx="50549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98589" y="3344566"/>
            <a:ext cx="4110299" cy="912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• Simple to start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• Records may be scattered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• Summaries require manual effort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90729" y="3306466"/>
            <a:ext cx="2452078" cy="3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• Cancalculatetotals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90729" y="3642103"/>
            <a:ext cx="3504038" cy="912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• Flexible categories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• Requires consistent manual updates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3911" y="6746872"/>
            <a:ext cx="2635901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PROJECT POSITIONING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3203" y="8091940"/>
            <a:ext cx="15523183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The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supplied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project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summary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does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not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name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specific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published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papers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or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competing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products;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this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slide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is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a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conceptual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comparison,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not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a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citation-based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research</a:t>
            </a:r>
            <a:r>
              <a:rPr lang="en-US" sz="1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survey.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1011" y="9792605"/>
            <a:ext cx="3105231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SKILL DEVELOPMENT LAB–II • AY 2026–27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2053" y="1883593"/>
            <a:ext cx="5353426" cy="3021706"/>
          </a:xfrm>
          <a:custGeom>
            <a:avLst/>
            <a:gdLst/>
            <a:ahLst/>
            <a:cxnLst/>
            <a:rect l="l" t="t" r="r" b="b"/>
            <a:pathLst>
              <a:path w="5353426" h="3021706">
                <a:moveTo>
                  <a:pt x="0" y="0"/>
                </a:moveTo>
                <a:lnTo>
                  <a:pt x="5353426" y="0"/>
                </a:lnTo>
                <a:lnTo>
                  <a:pt x="5353426" y="3021706"/>
                </a:lnTo>
                <a:lnTo>
                  <a:pt x="0" y="3021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78453" y="1883593"/>
            <a:ext cx="5353426" cy="3021706"/>
          </a:xfrm>
          <a:custGeom>
            <a:avLst/>
            <a:gdLst/>
            <a:ahLst/>
            <a:cxnLst/>
            <a:rect l="l" t="t" r="r" b="b"/>
            <a:pathLst>
              <a:path w="5353426" h="3021706">
                <a:moveTo>
                  <a:pt x="0" y="0"/>
                </a:moveTo>
                <a:lnTo>
                  <a:pt x="5353426" y="0"/>
                </a:lnTo>
                <a:lnTo>
                  <a:pt x="5353426" y="3021706"/>
                </a:lnTo>
                <a:lnTo>
                  <a:pt x="0" y="3021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14"/>
            <a:ext cx="18287643" cy="164135"/>
          </a:xfrm>
          <a:custGeom>
            <a:avLst/>
            <a:gdLst/>
            <a:ahLst/>
            <a:cxnLst/>
            <a:rect l="l" t="t" r="r" b="b"/>
            <a:pathLst>
              <a:path w="18287643" h="164135">
                <a:moveTo>
                  <a:pt x="0" y="0"/>
                </a:moveTo>
                <a:lnTo>
                  <a:pt x="18287643" y="0"/>
                </a:lnTo>
                <a:lnTo>
                  <a:pt x="18287643" y="164135"/>
                </a:lnTo>
                <a:lnTo>
                  <a:pt x="0" y="164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91011" y="1274945"/>
            <a:ext cx="16458643" cy="24303"/>
          </a:xfrm>
          <a:custGeom>
            <a:avLst/>
            <a:gdLst/>
            <a:ahLst/>
            <a:cxnLst/>
            <a:rect l="l" t="t" r="r" b="b"/>
            <a:pathLst>
              <a:path w="16458643" h="24303">
                <a:moveTo>
                  <a:pt x="0" y="0"/>
                </a:moveTo>
                <a:lnTo>
                  <a:pt x="16458643" y="0"/>
                </a:lnTo>
                <a:lnTo>
                  <a:pt x="16458643" y="24303"/>
                </a:lnTo>
                <a:lnTo>
                  <a:pt x="0" y="24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92053" y="6066415"/>
            <a:ext cx="16326226" cy="2130195"/>
          </a:xfrm>
          <a:custGeom>
            <a:avLst/>
            <a:gdLst/>
            <a:ahLst/>
            <a:cxnLst/>
            <a:rect l="l" t="t" r="r" b="b"/>
            <a:pathLst>
              <a:path w="16326226" h="2130195">
                <a:moveTo>
                  <a:pt x="0" y="0"/>
                </a:moveTo>
                <a:lnTo>
                  <a:pt x="16326226" y="0"/>
                </a:lnTo>
                <a:lnTo>
                  <a:pt x="16326226" y="2130195"/>
                </a:lnTo>
                <a:lnTo>
                  <a:pt x="0" y="21301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964853" y="1883593"/>
            <a:ext cx="5353426" cy="3021706"/>
          </a:xfrm>
          <a:custGeom>
            <a:avLst/>
            <a:gdLst/>
            <a:ahLst/>
            <a:cxnLst/>
            <a:rect l="l" t="t" r="r" b="b"/>
            <a:pathLst>
              <a:path w="5353426" h="3021706">
                <a:moveTo>
                  <a:pt x="0" y="0"/>
                </a:moveTo>
                <a:lnTo>
                  <a:pt x="5353426" y="0"/>
                </a:lnTo>
                <a:lnTo>
                  <a:pt x="5353426" y="3021706"/>
                </a:lnTo>
                <a:lnTo>
                  <a:pt x="0" y="3021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91011" y="407989"/>
            <a:ext cx="4303209" cy="71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2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Feasibility Study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018113" y="9758348"/>
            <a:ext cx="200025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330141" y="548640"/>
            <a:ext cx="1042845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FEASIBILITY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1071" y="2229055"/>
            <a:ext cx="2867930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Technical feasibility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2553" y="2775175"/>
            <a:ext cx="60579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7471" y="2229055"/>
            <a:ext cx="3254578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Operational feasibility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30736" y="2775175"/>
            <a:ext cx="60579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43871" y="2229055"/>
            <a:ext cx="2901448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Economic feasibility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92092" y="2775175"/>
            <a:ext cx="60579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3911" y="5649592"/>
            <a:ext cx="2700909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ASSUMPTIONS / LIMITS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8589" y="2775175"/>
            <a:ext cx="3938349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Usesan establishedJava web stack: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98589" y="3087595"/>
            <a:ext cx="4711660" cy="822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798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Servlets, JSP, JPA / EclipseLink, MySQL and Apache Tomcat. Maven supports build and dependency management.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84989" y="2775175"/>
            <a:ext cx="4321397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Aform-basedworkflow anddashboard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84989" y="3087595"/>
            <a:ext cx="3884757" cy="822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798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support common tasks: entering expenses, maintaining records and reviewing spending summaries.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71389" y="2775175"/>
            <a:ext cx="4365674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The listed toolsare commonly available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71389" y="3087595"/>
            <a:ext cx="4531323" cy="109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798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for development without requiring specialized hardware. Actual deployment and hosting costs depend on the environment.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09948" y="6544856"/>
            <a:ext cx="12394392" cy="324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 dirty="0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• Feasibility is assessed from the documented technology stack and modules.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9948" y="6909240"/>
            <a:ext cx="13268587" cy="81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3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• No measured budget, performance benchmark or user-study result was provided in the project summary.</a:t>
            </a:r>
          </a:p>
          <a:p>
            <a:pPr algn="l">
              <a:lnSpc>
                <a:spcPts val="3243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• Security, authentication and deployment configuration should be evaluated against the actual implementation.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1011" y="9792605"/>
            <a:ext cx="3105231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SKILL DEVELOPMENT LAB–II • AY 2026–27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0633" y="5449753"/>
            <a:ext cx="7822306" cy="2473066"/>
          </a:xfrm>
          <a:custGeom>
            <a:avLst/>
            <a:gdLst/>
            <a:ahLst/>
            <a:cxnLst/>
            <a:rect l="l" t="t" r="r" b="b"/>
            <a:pathLst>
              <a:path w="7822306" h="2473066">
                <a:moveTo>
                  <a:pt x="0" y="0"/>
                </a:moveTo>
                <a:lnTo>
                  <a:pt x="7822306" y="0"/>
                </a:lnTo>
                <a:lnTo>
                  <a:pt x="7822306" y="2473066"/>
                </a:lnTo>
                <a:lnTo>
                  <a:pt x="0" y="2473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4"/>
            <a:ext cx="18287643" cy="164135"/>
          </a:xfrm>
          <a:custGeom>
            <a:avLst/>
            <a:gdLst/>
            <a:ahLst/>
            <a:cxnLst/>
            <a:rect l="l" t="t" r="r" b="b"/>
            <a:pathLst>
              <a:path w="18287643" h="164135">
                <a:moveTo>
                  <a:pt x="0" y="0"/>
                </a:moveTo>
                <a:lnTo>
                  <a:pt x="18287643" y="0"/>
                </a:lnTo>
                <a:lnTo>
                  <a:pt x="18287643" y="164135"/>
                </a:lnTo>
                <a:lnTo>
                  <a:pt x="0" y="164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91011" y="1274945"/>
            <a:ext cx="16458643" cy="24303"/>
          </a:xfrm>
          <a:custGeom>
            <a:avLst/>
            <a:gdLst/>
            <a:ahLst/>
            <a:cxnLst/>
            <a:rect l="l" t="t" r="r" b="b"/>
            <a:pathLst>
              <a:path w="16458643" h="24303">
                <a:moveTo>
                  <a:pt x="0" y="0"/>
                </a:moveTo>
                <a:lnTo>
                  <a:pt x="16458643" y="0"/>
                </a:lnTo>
                <a:lnTo>
                  <a:pt x="16458643" y="24303"/>
                </a:lnTo>
                <a:lnTo>
                  <a:pt x="0" y="24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53073" y="5449753"/>
            <a:ext cx="7822306" cy="2473066"/>
          </a:xfrm>
          <a:custGeom>
            <a:avLst/>
            <a:gdLst/>
            <a:ahLst/>
            <a:cxnLst/>
            <a:rect l="l" t="t" r="r" b="b"/>
            <a:pathLst>
              <a:path w="7822306" h="2473066">
                <a:moveTo>
                  <a:pt x="0" y="0"/>
                </a:moveTo>
                <a:lnTo>
                  <a:pt x="7822306" y="0"/>
                </a:lnTo>
                <a:lnTo>
                  <a:pt x="7822306" y="2473066"/>
                </a:lnTo>
                <a:lnTo>
                  <a:pt x="0" y="2473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91495" y="2637415"/>
            <a:ext cx="16394835" cy="1718715"/>
          </a:xfrm>
          <a:custGeom>
            <a:avLst/>
            <a:gdLst/>
            <a:ahLst/>
            <a:cxnLst/>
            <a:rect l="l" t="t" r="r" b="b"/>
            <a:pathLst>
              <a:path w="16394835" h="1718715">
                <a:moveTo>
                  <a:pt x="0" y="0"/>
                </a:moveTo>
                <a:lnTo>
                  <a:pt x="16394835" y="0"/>
                </a:lnTo>
                <a:lnTo>
                  <a:pt x="16394835" y="1718715"/>
                </a:lnTo>
                <a:lnTo>
                  <a:pt x="0" y="17187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91011" y="407989"/>
            <a:ext cx="7783873" cy="71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2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System Design &amp; Architecture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09921" y="1622198"/>
            <a:ext cx="65737" cy="3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018113" y="9758348"/>
            <a:ext cx="200025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703816" y="548640"/>
            <a:ext cx="661197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12255" y="5795215"/>
            <a:ext cx="75752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7169" y="6362086"/>
            <a:ext cx="6595481" cy="614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Expense ID • Title • Amount • Category • Expense Date • Payment Method • Description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58562" y="5795215"/>
            <a:ext cx="75752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59609" y="6323986"/>
            <a:ext cx="4713003" cy="373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Form submission → AddExpenseServlet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59609" y="6621523"/>
            <a:ext cx="4364117" cy="373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mapping → JPA persistence → MySQL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5331" y="1622198"/>
            <a:ext cx="13315107" cy="3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Requestflow:theinterfacesendsformdatatoaServlet,whichuses JPA / EclipseLink to persist records in MySQL.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85684" y="6323986"/>
            <a:ext cx="1859718" cy="3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Expense entity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28579" y="3001361"/>
            <a:ext cx="489761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 b="1">
                <a:solidFill>
                  <a:srgbClr val="2A66B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USER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6365" y="3490050"/>
            <a:ext cx="1556780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 dirty="0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Enters or reviews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73791" y="3719022"/>
            <a:ext cx="1213995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expense data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26551" y="3001361"/>
            <a:ext cx="1025214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HTML / JSP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66785" y="3490050"/>
            <a:ext cx="969021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Forms and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84684" y="3719022"/>
            <a:ext cx="498705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views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56841" y="3001361"/>
            <a:ext cx="1290790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 b="1">
                <a:solidFill>
                  <a:srgbClr val="2A66B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JAVA SERVLET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27205" y="3490050"/>
            <a:ext cx="1596242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Request handling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94631" y="3719022"/>
            <a:ext cx="1214380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and mapping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709906" y="3001361"/>
            <a:ext cx="1714057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JPA / ECLIPSELINK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87625" y="3490050"/>
            <a:ext cx="1610630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Entity persistence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73662" y="3719022"/>
            <a:ext cx="756537" cy="259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 dirty="0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(ORM)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580076" y="3001361"/>
            <a:ext cx="673684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MYSQL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398182" y="3502750"/>
            <a:ext cx="910500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 dirty="0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Persistent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79397" y="3719022"/>
            <a:ext cx="1490658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 dirty="0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expense records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39651" y="5795215"/>
            <a:ext cx="4220170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Expenseentity / recordfields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32091" y="5795215"/>
            <a:ext cx="2616770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Add-expense</a:t>
            </a:r>
            <a:r>
              <a:rPr lang="en-US" sz="224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path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177958" y="6372749"/>
            <a:ext cx="211612" cy="342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→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91011" y="9792605"/>
            <a:ext cx="3105231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SKILL DEVELOPMENT LAB–II • AY 2026–27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9741" y="1609801"/>
            <a:ext cx="7958938" cy="1334224"/>
          </a:xfrm>
          <a:custGeom>
            <a:avLst/>
            <a:gdLst/>
            <a:ahLst/>
            <a:cxnLst/>
            <a:rect l="l" t="t" r="r" b="b"/>
            <a:pathLst>
              <a:path w="7958938" h="1334224">
                <a:moveTo>
                  <a:pt x="0" y="0"/>
                </a:moveTo>
                <a:lnTo>
                  <a:pt x="7958938" y="0"/>
                </a:lnTo>
                <a:lnTo>
                  <a:pt x="7958938" y="1334224"/>
                </a:lnTo>
                <a:lnTo>
                  <a:pt x="0" y="1334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9741" y="3063483"/>
            <a:ext cx="7958938" cy="1334210"/>
          </a:xfrm>
          <a:custGeom>
            <a:avLst/>
            <a:gdLst/>
            <a:ahLst/>
            <a:cxnLst/>
            <a:rect l="l" t="t" r="r" b="b"/>
            <a:pathLst>
              <a:path w="7958938" h="1334210">
                <a:moveTo>
                  <a:pt x="0" y="0"/>
                </a:moveTo>
                <a:lnTo>
                  <a:pt x="7958938" y="0"/>
                </a:lnTo>
                <a:lnTo>
                  <a:pt x="7958938" y="1334209"/>
                </a:lnTo>
                <a:lnTo>
                  <a:pt x="0" y="13342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29741" y="4517708"/>
            <a:ext cx="7958938" cy="1334210"/>
          </a:xfrm>
          <a:custGeom>
            <a:avLst/>
            <a:gdLst/>
            <a:ahLst/>
            <a:cxnLst/>
            <a:rect l="l" t="t" r="r" b="b"/>
            <a:pathLst>
              <a:path w="7958938" h="1334210">
                <a:moveTo>
                  <a:pt x="0" y="0"/>
                </a:moveTo>
                <a:lnTo>
                  <a:pt x="7958938" y="0"/>
                </a:lnTo>
                <a:lnTo>
                  <a:pt x="7958938" y="1334209"/>
                </a:lnTo>
                <a:lnTo>
                  <a:pt x="0" y="13342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29741" y="5971375"/>
            <a:ext cx="7958938" cy="1334224"/>
          </a:xfrm>
          <a:custGeom>
            <a:avLst/>
            <a:gdLst/>
            <a:ahLst/>
            <a:cxnLst/>
            <a:rect l="l" t="t" r="r" b="b"/>
            <a:pathLst>
              <a:path w="7958938" h="1334224">
                <a:moveTo>
                  <a:pt x="0" y="0"/>
                </a:moveTo>
                <a:lnTo>
                  <a:pt x="7958938" y="0"/>
                </a:lnTo>
                <a:lnTo>
                  <a:pt x="7958938" y="1334224"/>
                </a:lnTo>
                <a:lnTo>
                  <a:pt x="0" y="1334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29741" y="7425600"/>
            <a:ext cx="7958938" cy="1334224"/>
          </a:xfrm>
          <a:custGeom>
            <a:avLst/>
            <a:gdLst/>
            <a:ahLst/>
            <a:cxnLst/>
            <a:rect l="l" t="t" r="r" b="b"/>
            <a:pathLst>
              <a:path w="7958938" h="1334224">
                <a:moveTo>
                  <a:pt x="0" y="0"/>
                </a:moveTo>
                <a:lnTo>
                  <a:pt x="7958938" y="0"/>
                </a:lnTo>
                <a:lnTo>
                  <a:pt x="7958938" y="1334223"/>
                </a:lnTo>
                <a:lnTo>
                  <a:pt x="0" y="1334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4"/>
            <a:ext cx="18287643" cy="164135"/>
          </a:xfrm>
          <a:custGeom>
            <a:avLst/>
            <a:gdLst/>
            <a:ahLst/>
            <a:cxnLst/>
            <a:rect l="l" t="t" r="r" b="b"/>
            <a:pathLst>
              <a:path w="18287643" h="164135">
                <a:moveTo>
                  <a:pt x="0" y="0"/>
                </a:moveTo>
                <a:lnTo>
                  <a:pt x="18287643" y="0"/>
                </a:lnTo>
                <a:lnTo>
                  <a:pt x="18287643" y="164135"/>
                </a:lnTo>
                <a:lnTo>
                  <a:pt x="0" y="164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91011" y="1274945"/>
            <a:ext cx="16458643" cy="24303"/>
          </a:xfrm>
          <a:custGeom>
            <a:avLst/>
            <a:gdLst/>
            <a:ahLst/>
            <a:cxnLst/>
            <a:rect l="l" t="t" r="r" b="b"/>
            <a:pathLst>
              <a:path w="16458643" h="24303">
                <a:moveTo>
                  <a:pt x="0" y="0"/>
                </a:moveTo>
                <a:lnTo>
                  <a:pt x="16458643" y="0"/>
                </a:lnTo>
                <a:lnTo>
                  <a:pt x="16458643" y="24303"/>
                </a:lnTo>
                <a:lnTo>
                  <a:pt x="0" y="24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496501" y="1609801"/>
            <a:ext cx="7958938" cy="1334224"/>
          </a:xfrm>
          <a:custGeom>
            <a:avLst/>
            <a:gdLst/>
            <a:ahLst/>
            <a:cxnLst/>
            <a:rect l="l" t="t" r="r" b="b"/>
            <a:pathLst>
              <a:path w="7958938" h="1334224">
                <a:moveTo>
                  <a:pt x="0" y="0"/>
                </a:moveTo>
                <a:lnTo>
                  <a:pt x="7958938" y="0"/>
                </a:lnTo>
                <a:lnTo>
                  <a:pt x="7958938" y="1334224"/>
                </a:lnTo>
                <a:lnTo>
                  <a:pt x="0" y="1334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496501" y="3063483"/>
            <a:ext cx="7958938" cy="1334210"/>
          </a:xfrm>
          <a:custGeom>
            <a:avLst/>
            <a:gdLst/>
            <a:ahLst/>
            <a:cxnLst/>
            <a:rect l="l" t="t" r="r" b="b"/>
            <a:pathLst>
              <a:path w="7958938" h="1334210">
                <a:moveTo>
                  <a:pt x="0" y="0"/>
                </a:moveTo>
                <a:lnTo>
                  <a:pt x="7958938" y="0"/>
                </a:lnTo>
                <a:lnTo>
                  <a:pt x="7958938" y="1334209"/>
                </a:lnTo>
                <a:lnTo>
                  <a:pt x="0" y="13342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496501" y="4517708"/>
            <a:ext cx="7958938" cy="1334210"/>
          </a:xfrm>
          <a:custGeom>
            <a:avLst/>
            <a:gdLst/>
            <a:ahLst/>
            <a:cxnLst/>
            <a:rect l="l" t="t" r="r" b="b"/>
            <a:pathLst>
              <a:path w="7958938" h="1334210">
                <a:moveTo>
                  <a:pt x="0" y="0"/>
                </a:moveTo>
                <a:lnTo>
                  <a:pt x="7958938" y="0"/>
                </a:lnTo>
                <a:lnTo>
                  <a:pt x="7958938" y="1334209"/>
                </a:lnTo>
                <a:lnTo>
                  <a:pt x="0" y="13342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496501" y="5971375"/>
            <a:ext cx="7958938" cy="1334224"/>
          </a:xfrm>
          <a:custGeom>
            <a:avLst/>
            <a:gdLst/>
            <a:ahLst/>
            <a:cxnLst/>
            <a:rect l="l" t="t" r="r" b="b"/>
            <a:pathLst>
              <a:path w="7958938" h="1334224">
                <a:moveTo>
                  <a:pt x="0" y="0"/>
                </a:moveTo>
                <a:lnTo>
                  <a:pt x="7958938" y="0"/>
                </a:lnTo>
                <a:lnTo>
                  <a:pt x="7958938" y="1334224"/>
                </a:lnTo>
                <a:lnTo>
                  <a:pt x="0" y="1334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496501" y="7425600"/>
            <a:ext cx="7958938" cy="1334224"/>
          </a:xfrm>
          <a:custGeom>
            <a:avLst/>
            <a:gdLst/>
            <a:ahLst/>
            <a:cxnLst/>
            <a:rect l="l" t="t" r="r" b="b"/>
            <a:pathLst>
              <a:path w="7958938" h="1334224">
                <a:moveTo>
                  <a:pt x="0" y="0"/>
                </a:moveTo>
                <a:lnTo>
                  <a:pt x="7958938" y="0"/>
                </a:lnTo>
                <a:lnTo>
                  <a:pt x="7958938" y="1334223"/>
                </a:lnTo>
                <a:lnTo>
                  <a:pt x="0" y="1334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91011" y="407989"/>
            <a:ext cx="6415959" cy="71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2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Technology &amp; Tools Used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18113" y="9758348"/>
            <a:ext cx="200025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831804" y="548640"/>
            <a:ext cx="530538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STACK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8231" y="3408959"/>
            <a:ext cx="2806851" cy="82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JSP</a:t>
            </a:r>
          </a:p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Server-rendered web pages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08231" y="1954735"/>
            <a:ext cx="613905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Java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27482" y="2489659"/>
            <a:ext cx="55564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08231" y="7770533"/>
            <a:ext cx="979865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Maven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39212" y="8305471"/>
            <a:ext cx="55564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08231" y="4862627"/>
            <a:ext cx="2353966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JPA / EclipseLink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20567" y="5397565"/>
            <a:ext cx="55564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08231" y="6316308"/>
            <a:ext cx="2731284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MySQL Workbench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65980" y="6851790"/>
            <a:ext cx="55564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74991" y="4862627"/>
            <a:ext cx="2006522" cy="828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MySQL</a:t>
            </a:r>
          </a:p>
          <a:p>
            <a:pPr algn="l">
              <a:lnSpc>
                <a:spcPts val="2309"/>
              </a:lnSpc>
            </a:pPr>
            <a:r>
              <a:rPr lang="en-US" sz="1649" spc="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Relational</a:t>
            </a:r>
            <a:r>
              <a:rPr lang="en-US" sz="1649" spc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649" spc="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database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81774" y="5397565"/>
            <a:ext cx="55564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74991" y="3408959"/>
            <a:ext cx="1608344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HTML / CSS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578194" y="3943883"/>
            <a:ext cx="55564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74991" y="1783285"/>
            <a:ext cx="1852231" cy="99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7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Java Servlets</a:t>
            </a:r>
          </a:p>
          <a:p>
            <a:pPr algn="ctr">
              <a:lnSpc>
                <a:spcPts val="3665"/>
              </a:lnSpc>
            </a:pP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874991" y="6316308"/>
            <a:ext cx="2216734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Apache Tomcat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77765" y="6851790"/>
            <a:ext cx="55564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874991" y="7770533"/>
            <a:ext cx="2683493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Visual Studio Code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25374" y="8305471"/>
            <a:ext cx="55564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35749" y="5397565"/>
            <a:ext cx="2145140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 spc="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ORM</a:t>
            </a:r>
            <a:r>
              <a:rPr lang="en-US" sz="1649" spc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649" spc="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andpersistence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35749" y="8305471"/>
            <a:ext cx="2690508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 spc="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Buildanddependency tool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35749" y="2489659"/>
            <a:ext cx="2958070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Mainprogramming language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35749" y="6851790"/>
            <a:ext cx="2924723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Database</a:t>
            </a:r>
            <a:r>
              <a:rPr lang="en-US" sz="164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administration</a:t>
            </a:r>
            <a:r>
              <a:rPr lang="en-US" sz="164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tool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902509" y="3943883"/>
            <a:ext cx="2527659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 spc="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Forms,layoutand styling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902509" y="6851790"/>
            <a:ext cx="2524030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 spc="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Servletcontainer / server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902509" y="2489659"/>
            <a:ext cx="2632586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Backend</a:t>
            </a:r>
            <a:r>
              <a:rPr lang="en-US" sz="164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request</a:t>
            </a:r>
            <a:r>
              <a:rPr lang="en-US" sz="164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handling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902509" y="8305471"/>
            <a:ext cx="2699052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Development</a:t>
            </a:r>
            <a:r>
              <a:rPr lang="en-US" sz="164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environment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91011" y="9792605"/>
            <a:ext cx="3105231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SKILL DEVELOPMENT LAB–II • AY 2026–27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1600" y="3017520"/>
            <a:ext cx="617220" cy="617220"/>
          </a:xfrm>
          <a:custGeom>
            <a:avLst/>
            <a:gdLst/>
            <a:ahLst/>
            <a:cxnLst/>
            <a:rect l="l" t="t" r="r" b="b"/>
            <a:pathLst>
              <a:path w="617220" h="617220">
                <a:moveTo>
                  <a:pt x="0" y="0"/>
                </a:moveTo>
                <a:lnTo>
                  <a:pt x="617220" y="0"/>
                </a:lnTo>
                <a:lnTo>
                  <a:pt x="617220" y="617220"/>
                </a:lnTo>
                <a:lnTo>
                  <a:pt x="0" y="617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1600" y="4018674"/>
            <a:ext cx="617220" cy="617220"/>
          </a:xfrm>
          <a:custGeom>
            <a:avLst/>
            <a:gdLst/>
            <a:ahLst/>
            <a:cxnLst/>
            <a:rect l="l" t="t" r="r" b="b"/>
            <a:pathLst>
              <a:path w="617220" h="617220">
                <a:moveTo>
                  <a:pt x="0" y="0"/>
                </a:moveTo>
                <a:lnTo>
                  <a:pt x="617220" y="0"/>
                </a:lnTo>
                <a:lnTo>
                  <a:pt x="617220" y="617220"/>
                </a:lnTo>
                <a:lnTo>
                  <a:pt x="0" y="617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1600" y="5019842"/>
            <a:ext cx="617220" cy="617220"/>
          </a:xfrm>
          <a:custGeom>
            <a:avLst/>
            <a:gdLst/>
            <a:ahLst/>
            <a:cxnLst/>
            <a:rect l="l" t="t" r="r" b="b"/>
            <a:pathLst>
              <a:path w="617220" h="617220">
                <a:moveTo>
                  <a:pt x="0" y="0"/>
                </a:moveTo>
                <a:lnTo>
                  <a:pt x="617220" y="0"/>
                </a:lnTo>
                <a:lnTo>
                  <a:pt x="617220" y="617220"/>
                </a:lnTo>
                <a:lnTo>
                  <a:pt x="0" y="617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71600" y="6021538"/>
            <a:ext cx="617220" cy="617220"/>
          </a:xfrm>
          <a:custGeom>
            <a:avLst/>
            <a:gdLst/>
            <a:ahLst/>
            <a:cxnLst/>
            <a:rect l="l" t="t" r="r" b="b"/>
            <a:pathLst>
              <a:path w="617220" h="617220">
                <a:moveTo>
                  <a:pt x="0" y="0"/>
                </a:moveTo>
                <a:lnTo>
                  <a:pt x="617220" y="0"/>
                </a:lnTo>
                <a:lnTo>
                  <a:pt x="617220" y="617220"/>
                </a:lnTo>
                <a:lnTo>
                  <a:pt x="0" y="617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14"/>
            <a:ext cx="18287643" cy="164135"/>
          </a:xfrm>
          <a:custGeom>
            <a:avLst/>
            <a:gdLst/>
            <a:ahLst/>
            <a:cxnLst/>
            <a:rect l="l" t="t" r="r" b="b"/>
            <a:pathLst>
              <a:path w="18287643" h="164135">
                <a:moveTo>
                  <a:pt x="0" y="0"/>
                </a:moveTo>
                <a:lnTo>
                  <a:pt x="18287643" y="0"/>
                </a:lnTo>
                <a:lnTo>
                  <a:pt x="18287643" y="164135"/>
                </a:lnTo>
                <a:lnTo>
                  <a:pt x="0" y="164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91011" y="1274945"/>
            <a:ext cx="16458643" cy="24303"/>
          </a:xfrm>
          <a:custGeom>
            <a:avLst/>
            <a:gdLst/>
            <a:ahLst/>
            <a:cxnLst/>
            <a:rect l="l" t="t" r="r" b="b"/>
            <a:pathLst>
              <a:path w="16458643" h="24303">
                <a:moveTo>
                  <a:pt x="0" y="0"/>
                </a:moveTo>
                <a:lnTo>
                  <a:pt x="16458643" y="0"/>
                </a:lnTo>
                <a:lnTo>
                  <a:pt x="16458643" y="24303"/>
                </a:lnTo>
                <a:lnTo>
                  <a:pt x="0" y="24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262061" y="2226493"/>
            <a:ext cx="8781898" cy="5284318"/>
          </a:xfrm>
          <a:custGeom>
            <a:avLst/>
            <a:gdLst/>
            <a:ahLst/>
            <a:cxnLst/>
            <a:rect l="l" t="t" r="r" b="b"/>
            <a:pathLst>
              <a:path w="8781898" h="5284318">
                <a:moveTo>
                  <a:pt x="0" y="0"/>
                </a:moveTo>
                <a:lnTo>
                  <a:pt x="8781898" y="0"/>
                </a:lnTo>
                <a:lnTo>
                  <a:pt x="8781898" y="5284317"/>
                </a:lnTo>
                <a:lnTo>
                  <a:pt x="0" y="5284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91011" y="407989"/>
            <a:ext cx="6871059" cy="71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2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Implementation &amp; Results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61881" y="1699470"/>
            <a:ext cx="60579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80989" y="3799446"/>
            <a:ext cx="1283160" cy="767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2"/>
              </a:lnSpc>
            </a:pPr>
            <a:r>
              <a:rPr lang="en-US" sz="1352" b="1">
                <a:solidFill>
                  <a:srgbClr val="2A66B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Total spending</a:t>
            </a:r>
          </a:p>
          <a:p>
            <a:pPr algn="ctr">
              <a:lnSpc>
                <a:spcPts val="1678"/>
              </a:lnSpc>
            </a:pPr>
            <a:r>
              <a:rPr lang="en-US" sz="1199" spc="1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Calculated total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65528" y="3799446"/>
            <a:ext cx="1387116" cy="767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Expense count</a:t>
            </a:r>
          </a:p>
          <a:p>
            <a:pPr algn="ctr">
              <a:lnSpc>
                <a:spcPts val="1678"/>
              </a:lnSpc>
            </a:pPr>
            <a:r>
              <a:rPr lang="en-US" sz="1199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Number of records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094547" y="3799446"/>
            <a:ext cx="1816670" cy="767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2"/>
              </a:lnSpc>
            </a:pPr>
            <a:r>
              <a:rPr lang="en-US" sz="1352" b="1">
                <a:solidFill>
                  <a:srgbClr val="ECB14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Category-wise spend</a:t>
            </a:r>
          </a:p>
          <a:p>
            <a:pPr algn="ctr">
              <a:lnSpc>
                <a:spcPts val="1678"/>
              </a:lnSpc>
            </a:pPr>
            <a:r>
              <a:rPr lang="en-US" sz="1199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Grouped totals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018113" y="9758348"/>
            <a:ext cx="200025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335542" y="548640"/>
            <a:ext cx="1036372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WORKFLOW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5331" y="1699470"/>
            <a:ext cx="16060036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Theproject summaryidentifiesthefollowingimplementedmodules and data flow; no runtime screenshots or measured test results were supplied.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3911" y="2494912"/>
            <a:ext cx="3162009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EXPENSE CRUD WORKFLOW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77711" y="2789749"/>
            <a:ext cx="5177433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EXPENSE DASHBOARD — MODULE OVERVIEW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25932" y="3199543"/>
            <a:ext cx="111214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25932" y="4200696"/>
            <a:ext cx="111214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25932" y="5201850"/>
            <a:ext cx="111214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25932" y="6203561"/>
            <a:ext cx="111214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62611" y="3144312"/>
            <a:ext cx="1725616" cy="369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A344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Add expense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62611" y="4145466"/>
            <a:ext cx="2926623" cy="369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A344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View expense records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62611" y="5146634"/>
            <a:ext cx="2706224" cy="369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dirty="0">
                <a:solidFill>
                  <a:srgbClr val="2A344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Edit expense details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62611" y="6147787"/>
            <a:ext cx="2492097" cy="369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A344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Delete an expense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1011" y="9792605"/>
            <a:ext cx="3105231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SKILL DEVELOPMENT LAB–II • AY 2026–27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3911" y="7844314"/>
            <a:ext cx="12949061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Presentation note: replace this illustrative module overview with real application screenshots before final submission, if available.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46820" y="5581174"/>
            <a:ext cx="5271387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Recent expenses are also included in the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9213" y="4901113"/>
            <a:ext cx="5216266" cy="2198746"/>
          </a:xfrm>
          <a:custGeom>
            <a:avLst/>
            <a:gdLst/>
            <a:ahLst/>
            <a:cxnLst/>
            <a:rect l="l" t="t" r="r" b="b"/>
            <a:pathLst>
              <a:path w="5216266" h="2198746">
                <a:moveTo>
                  <a:pt x="0" y="0"/>
                </a:moveTo>
                <a:lnTo>
                  <a:pt x="5216266" y="0"/>
                </a:lnTo>
                <a:lnTo>
                  <a:pt x="5216266" y="2198746"/>
                </a:lnTo>
                <a:lnTo>
                  <a:pt x="0" y="219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84193" y="4901113"/>
            <a:ext cx="5216266" cy="2198746"/>
          </a:xfrm>
          <a:custGeom>
            <a:avLst/>
            <a:gdLst/>
            <a:ahLst/>
            <a:cxnLst/>
            <a:rect l="l" t="t" r="r" b="b"/>
            <a:pathLst>
              <a:path w="5216266" h="2198746">
                <a:moveTo>
                  <a:pt x="0" y="0"/>
                </a:moveTo>
                <a:lnTo>
                  <a:pt x="5216266" y="0"/>
                </a:lnTo>
                <a:lnTo>
                  <a:pt x="5216266" y="2198746"/>
                </a:lnTo>
                <a:lnTo>
                  <a:pt x="0" y="219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14"/>
            <a:ext cx="18287643" cy="164135"/>
          </a:xfrm>
          <a:custGeom>
            <a:avLst/>
            <a:gdLst/>
            <a:ahLst/>
            <a:cxnLst/>
            <a:rect l="l" t="t" r="r" b="b"/>
            <a:pathLst>
              <a:path w="18287643" h="164135">
                <a:moveTo>
                  <a:pt x="0" y="0"/>
                </a:moveTo>
                <a:lnTo>
                  <a:pt x="18287643" y="0"/>
                </a:lnTo>
                <a:lnTo>
                  <a:pt x="18287643" y="164135"/>
                </a:lnTo>
                <a:lnTo>
                  <a:pt x="0" y="164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91011" y="1274945"/>
            <a:ext cx="16458643" cy="24303"/>
          </a:xfrm>
          <a:custGeom>
            <a:avLst/>
            <a:gdLst/>
            <a:ahLst/>
            <a:cxnLst/>
            <a:rect l="l" t="t" r="r" b="b"/>
            <a:pathLst>
              <a:path w="16458643" h="24303">
                <a:moveTo>
                  <a:pt x="0" y="0"/>
                </a:moveTo>
                <a:lnTo>
                  <a:pt x="16458643" y="0"/>
                </a:lnTo>
                <a:lnTo>
                  <a:pt x="16458643" y="24303"/>
                </a:lnTo>
                <a:lnTo>
                  <a:pt x="0" y="24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29213" y="1746433"/>
            <a:ext cx="16051921" cy="2061586"/>
          </a:xfrm>
          <a:custGeom>
            <a:avLst/>
            <a:gdLst/>
            <a:ahLst/>
            <a:cxnLst/>
            <a:rect l="l" t="t" r="r" b="b"/>
            <a:pathLst>
              <a:path w="16051921" h="2061586">
                <a:moveTo>
                  <a:pt x="0" y="0"/>
                </a:moveTo>
                <a:lnTo>
                  <a:pt x="16051920" y="0"/>
                </a:lnTo>
                <a:lnTo>
                  <a:pt x="16051920" y="2061586"/>
                </a:lnTo>
                <a:lnTo>
                  <a:pt x="0" y="20615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39173" y="4901113"/>
            <a:ext cx="5216266" cy="2198746"/>
          </a:xfrm>
          <a:custGeom>
            <a:avLst/>
            <a:gdLst/>
            <a:ahLst/>
            <a:cxnLst/>
            <a:rect l="l" t="t" r="r" b="b"/>
            <a:pathLst>
              <a:path w="5216266" h="2198746">
                <a:moveTo>
                  <a:pt x="0" y="0"/>
                </a:moveTo>
                <a:lnTo>
                  <a:pt x="5216266" y="0"/>
                </a:lnTo>
                <a:lnTo>
                  <a:pt x="5216266" y="2198746"/>
                </a:lnTo>
                <a:lnTo>
                  <a:pt x="0" y="2198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91011" y="407989"/>
            <a:ext cx="2868101" cy="71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2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018113" y="9758348"/>
            <a:ext cx="200025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5144" y="548640"/>
            <a:ext cx="904484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SUMMARY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23178" y="2163480"/>
            <a:ext cx="14214705" cy="44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1"/>
              </a:lnSpc>
            </a:pPr>
            <a:r>
              <a:rPr lang="en-US" sz="2551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Expense Management System brings expense recording, record maintenance and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51228" y="2552286"/>
            <a:ext cx="9586970" cy="44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1"/>
              </a:lnSpc>
            </a:pPr>
            <a:r>
              <a:rPr lang="en-US" sz="2551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spending summaries into one Java-based web application.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17725" y="3048891"/>
            <a:ext cx="65737" cy="3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26489" y="3048891"/>
            <a:ext cx="15066869" cy="35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951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ItsarchitectureconnectsanHTML / JSPinterfacetoJavaServlets,JPA / EclipseLinkandaMySQLdatabaseforpersistentstorage.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2491" y="4415152"/>
            <a:ext cx="1843702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KEY TAKEAWAYS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38480" y="5246575"/>
            <a:ext cx="75752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35749" y="5830795"/>
            <a:ext cx="4331641" cy="54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798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Expense details follow a defined record structure.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60754" y="5246575"/>
            <a:ext cx="75752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90729" y="5830795"/>
            <a:ext cx="4171107" cy="54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798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Records can be added, viewed, edited and deleted.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45709" y="5830795"/>
            <a:ext cx="3985884" cy="54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798">
                <a:solidFill>
                  <a:srgbClr val="2A3442"/>
                </a:solidFill>
                <a:latin typeface="Noto Sans"/>
                <a:ea typeface="Noto Sans"/>
                <a:cs typeface="Noto Sans"/>
                <a:sym typeface="Noto Sans"/>
              </a:rPr>
              <a:t>Dashboard modules summarize key spending information.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2491" y="8324212"/>
            <a:ext cx="15477534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Optional ideas (not claimed as current features): login and roles, date-range filters, exportable reports, budget alerts and automated backups.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08231" y="5246575"/>
            <a:ext cx="2299187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Structured</a:t>
            </a:r>
            <a:r>
              <a:rPr lang="en-US" sz="224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data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63211" y="5246575"/>
            <a:ext cx="2317833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CRUD</a:t>
            </a:r>
            <a:r>
              <a:rPr lang="en-US" sz="224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capability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18191" y="5246575"/>
            <a:ext cx="1253757" cy="392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9" b="1">
                <a:solidFill>
                  <a:srgbClr val="1627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Visibility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02491" y="7707154"/>
            <a:ext cx="3720765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 b="1" spc="1">
                <a:solidFill>
                  <a:srgbClr val="24979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POSSIBLE FUTURE ENHANCEMENTS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1011" y="9792605"/>
            <a:ext cx="3105231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5F6D7F"/>
                </a:solidFill>
                <a:latin typeface="Noto Sans"/>
                <a:ea typeface="Noto Sans"/>
                <a:cs typeface="Noto Sans"/>
                <a:sym typeface="Noto Sans"/>
              </a:rPr>
              <a:t>SKILL DEVELOPMENT LAB–II • AY 2026–27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"/>
            <a:ext cx="18287643" cy="164135"/>
          </a:xfrm>
          <a:custGeom>
            <a:avLst/>
            <a:gdLst/>
            <a:ahLst/>
            <a:cxnLst/>
            <a:rect l="l" t="t" r="r" b="b"/>
            <a:pathLst>
              <a:path w="18287643" h="164135">
                <a:moveTo>
                  <a:pt x="0" y="0"/>
                </a:moveTo>
                <a:lnTo>
                  <a:pt x="18287643" y="0"/>
                </a:lnTo>
                <a:lnTo>
                  <a:pt x="18287643" y="164135"/>
                </a:lnTo>
                <a:lnTo>
                  <a:pt x="0" y="164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1011" y="1274945"/>
            <a:ext cx="16458643" cy="24303"/>
          </a:xfrm>
          <a:custGeom>
            <a:avLst/>
            <a:gdLst/>
            <a:ahLst/>
            <a:cxnLst/>
            <a:rect l="l" t="t" r="r" b="b"/>
            <a:pathLst>
              <a:path w="16458643" h="24303">
                <a:moveTo>
                  <a:pt x="0" y="0"/>
                </a:moveTo>
                <a:lnTo>
                  <a:pt x="16458643" y="0"/>
                </a:lnTo>
                <a:lnTo>
                  <a:pt x="16458643" y="24303"/>
                </a:lnTo>
                <a:lnTo>
                  <a:pt x="0" y="24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2053" y="2116322"/>
            <a:ext cx="16326226" cy="1307221"/>
          </a:xfrm>
          <a:custGeom>
            <a:avLst/>
            <a:gdLst/>
            <a:ahLst/>
            <a:cxnLst/>
            <a:rect l="l" t="t" r="r" b="b"/>
            <a:pathLst>
              <a:path w="16326226" h="1307221">
                <a:moveTo>
                  <a:pt x="0" y="0"/>
                </a:moveTo>
                <a:lnTo>
                  <a:pt x="16326226" y="0"/>
                </a:lnTo>
                <a:lnTo>
                  <a:pt x="16326226" y="1307220"/>
                </a:lnTo>
                <a:lnTo>
                  <a:pt x="0" y="1307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4054" y="4457700"/>
            <a:ext cx="383948" cy="383934"/>
          </a:xfrm>
          <a:custGeom>
            <a:avLst/>
            <a:gdLst/>
            <a:ahLst/>
            <a:cxnLst/>
            <a:rect l="l" t="t" r="r" b="b"/>
            <a:pathLst>
              <a:path w="383948" h="383934">
                <a:moveTo>
                  <a:pt x="0" y="0"/>
                </a:moveTo>
                <a:lnTo>
                  <a:pt x="383948" y="0"/>
                </a:lnTo>
                <a:lnTo>
                  <a:pt x="383948" y="383934"/>
                </a:lnTo>
                <a:lnTo>
                  <a:pt x="0" y="383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44054" y="5115954"/>
            <a:ext cx="383948" cy="383948"/>
          </a:xfrm>
          <a:custGeom>
            <a:avLst/>
            <a:gdLst/>
            <a:ahLst/>
            <a:cxnLst/>
            <a:rect l="l" t="t" r="r" b="b"/>
            <a:pathLst>
              <a:path w="383948" h="383948">
                <a:moveTo>
                  <a:pt x="0" y="0"/>
                </a:moveTo>
                <a:lnTo>
                  <a:pt x="383948" y="0"/>
                </a:lnTo>
                <a:lnTo>
                  <a:pt x="383948" y="383948"/>
                </a:lnTo>
                <a:lnTo>
                  <a:pt x="0" y="383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44054" y="5774222"/>
            <a:ext cx="383948" cy="383934"/>
          </a:xfrm>
          <a:custGeom>
            <a:avLst/>
            <a:gdLst/>
            <a:ahLst/>
            <a:cxnLst/>
            <a:rect l="l" t="t" r="r" b="b"/>
            <a:pathLst>
              <a:path w="383948" h="383934">
                <a:moveTo>
                  <a:pt x="0" y="0"/>
                </a:moveTo>
                <a:lnTo>
                  <a:pt x="383948" y="0"/>
                </a:lnTo>
                <a:lnTo>
                  <a:pt x="383948" y="383933"/>
                </a:lnTo>
                <a:lnTo>
                  <a:pt x="0" y="3839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44054" y="6433018"/>
            <a:ext cx="383948" cy="383948"/>
          </a:xfrm>
          <a:custGeom>
            <a:avLst/>
            <a:gdLst/>
            <a:ahLst/>
            <a:cxnLst/>
            <a:rect l="l" t="t" r="r" b="b"/>
            <a:pathLst>
              <a:path w="383948" h="383948">
                <a:moveTo>
                  <a:pt x="0" y="0"/>
                </a:moveTo>
                <a:lnTo>
                  <a:pt x="383948" y="0"/>
                </a:lnTo>
                <a:lnTo>
                  <a:pt x="383948" y="383948"/>
                </a:lnTo>
                <a:lnTo>
                  <a:pt x="0" y="383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44054" y="7091286"/>
            <a:ext cx="383948" cy="383934"/>
          </a:xfrm>
          <a:custGeom>
            <a:avLst/>
            <a:gdLst/>
            <a:ahLst/>
            <a:cxnLst/>
            <a:rect l="l" t="t" r="r" b="b"/>
            <a:pathLst>
              <a:path w="383948" h="383934">
                <a:moveTo>
                  <a:pt x="0" y="0"/>
                </a:moveTo>
                <a:lnTo>
                  <a:pt x="383948" y="0"/>
                </a:lnTo>
                <a:lnTo>
                  <a:pt x="383948" y="383934"/>
                </a:lnTo>
                <a:lnTo>
                  <a:pt x="0" y="383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44054" y="7749540"/>
            <a:ext cx="383948" cy="383934"/>
          </a:xfrm>
          <a:custGeom>
            <a:avLst/>
            <a:gdLst/>
            <a:ahLst/>
            <a:cxnLst/>
            <a:rect l="l" t="t" r="r" b="b"/>
            <a:pathLst>
              <a:path w="383948" h="383934">
                <a:moveTo>
                  <a:pt x="0" y="0"/>
                </a:moveTo>
                <a:lnTo>
                  <a:pt x="383948" y="0"/>
                </a:lnTo>
                <a:lnTo>
                  <a:pt x="383948" y="383934"/>
                </a:lnTo>
                <a:lnTo>
                  <a:pt x="0" y="383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91011" y="407989"/>
            <a:ext cx="2892776" cy="71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2"/>
              </a:lnSpc>
            </a:pPr>
            <a:r>
              <a:rPr lang="en-US" sz="4052" b="1">
                <a:solidFill>
                  <a:srgbClr val="162743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References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67228" y="1761049"/>
            <a:ext cx="60579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249794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018113" y="9758348"/>
            <a:ext cx="200025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11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578001" y="548640"/>
            <a:ext cx="789413" cy="2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2" b="1">
                <a:solidFill>
                  <a:srgbClr val="249794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SOURCES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3911" y="1761049"/>
            <a:ext cx="2599782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249794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Project-specific</a:t>
            </a:r>
            <a:r>
              <a:rPr lang="en-US" sz="1798" b="1">
                <a:solidFill>
                  <a:srgbClr val="FFFFFF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 </a:t>
            </a:r>
            <a:r>
              <a:rPr lang="en-US" sz="1798" b="1">
                <a:solidFill>
                  <a:srgbClr val="249794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source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3911" y="3914575"/>
            <a:ext cx="6085646" cy="31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798" b="1">
                <a:solidFill>
                  <a:srgbClr val="249794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Technology documentation (background references)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47577" y="2412063"/>
            <a:ext cx="8775525" cy="369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162743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Expense Management System — Project Summary, supplied PDF.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11048" y="2841746"/>
            <a:ext cx="55564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>
                <a:solidFill>
                  <a:srgbClr val="5F6D7F"/>
                </a:solidFill>
                <a:latin typeface="Noto Sans"/>
                <a:ea typeface="Noto Sans"/>
                <a:cs typeface="Times New Roman" panose="02020603050405020304" pitchFamily="18" charset="0"/>
                <a:sym typeface="Noto Sans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47229" y="4332432"/>
            <a:ext cx="4853178" cy="3761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1649" b="1" spc="1">
                <a:solidFill>
                  <a:srgbClr val="2A3442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Java documentation</a:t>
            </a:r>
          </a:p>
          <a:p>
            <a:pPr algn="l">
              <a:lnSpc>
                <a:spcPts val="4124"/>
              </a:lnSpc>
              <a:spcBef>
                <a:spcPts val="1059"/>
              </a:spcBef>
            </a:pPr>
            <a:r>
              <a:rPr lang="en-US" sz="1649" b="1" spc="1">
                <a:solidFill>
                  <a:srgbClr val="2A3442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Jakarta Servlet specification / documentation EclipseLink documentation</a:t>
            </a:r>
          </a:p>
          <a:p>
            <a:pPr algn="l">
              <a:lnSpc>
                <a:spcPts val="4124"/>
              </a:lnSpc>
              <a:spcBef>
                <a:spcPts val="1059"/>
              </a:spcBef>
            </a:pPr>
            <a:r>
              <a:rPr lang="en-US" sz="1649" b="1" spc="1">
                <a:solidFill>
                  <a:srgbClr val="2A3442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MySQL documentation</a:t>
            </a:r>
          </a:p>
          <a:p>
            <a:pPr algn="l">
              <a:lnSpc>
                <a:spcPts val="4124"/>
              </a:lnSpc>
              <a:spcBef>
                <a:spcPts val="1059"/>
              </a:spcBef>
            </a:pPr>
            <a:r>
              <a:rPr lang="en-US" sz="1649" b="1" spc="1">
                <a:solidFill>
                  <a:srgbClr val="2A3442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Apache Tomcat documentation</a:t>
            </a:r>
          </a:p>
          <a:p>
            <a:pPr algn="l">
              <a:lnSpc>
                <a:spcPts val="4124"/>
              </a:lnSpc>
              <a:spcBef>
                <a:spcPts val="1062"/>
              </a:spcBef>
            </a:pPr>
            <a:r>
              <a:rPr lang="en-US" sz="1649" b="1" spc="1">
                <a:solidFill>
                  <a:srgbClr val="2A3442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Apache Maven documentation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9986" y="2841746"/>
            <a:ext cx="9359084" cy="298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649" dirty="0">
                <a:solidFill>
                  <a:srgbClr val="5F6D7F"/>
                </a:solidFill>
                <a:latin typeface="Noto Sans"/>
                <a:ea typeface="Noto Sans"/>
                <a:cs typeface="Times New Roman" panose="02020603050405020304" pitchFamily="18" charset="0"/>
                <a:sym typeface="Noto Sans"/>
              </a:rPr>
              <a:t>Used for the stated objective, </a:t>
            </a:r>
            <a:r>
              <a:rPr lang="en-US" sz="1649" dirty="0" err="1">
                <a:solidFill>
                  <a:srgbClr val="5F6D7F"/>
                </a:solidFill>
                <a:latin typeface="Noto Sans"/>
                <a:ea typeface="Noto Sans"/>
                <a:cs typeface="Times New Roman" panose="02020603050405020304" pitchFamily="18" charset="0"/>
                <a:sym typeface="Noto Sans"/>
              </a:rPr>
              <a:t>technologystack,expensefields,modulesandapplicationflow</a:t>
            </a:r>
            <a:r>
              <a:rPr lang="en-US" sz="1649" dirty="0">
                <a:solidFill>
                  <a:srgbClr val="5F6D7F"/>
                </a:solidFill>
                <a:latin typeface="Noto Sans"/>
                <a:ea typeface="Noto Sans"/>
                <a:cs typeface="Times New Roman" panose="02020603050405020304" pitchFamily="18" charset="0"/>
                <a:sym typeface="Noto Sans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35220" y="4552450"/>
            <a:ext cx="88854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 b="1">
                <a:solidFill>
                  <a:srgbClr val="FFFFFF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35220" y="5210704"/>
            <a:ext cx="88854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 b="1">
                <a:solidFill>
                  <a:srgbClr val="FFFFFF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35220" y="5868972"/>
            <a:ext cx="88854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 b="1">
                <a:solidFill>
                  <a:srgbClr val="FFFFFF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35220" y="6527754"/>
            <a:ext cx="88854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 b="1">
                <a:solidFill>
                  <a:srgbClr val="FFFFFF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35220" y="7186036"/>
            <a:ext cx="88854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 b="1">
                <a:solidFill>
                  <a:srgbClr val="FFFFFF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35220" y="7844290"/>
            <a:ext cx="88854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 b="1">
                <a:solidFill>
                  <a:srgbClr val="FFFFFF"/>
                </a:solidFill>
                <a:latin typeface="Noto Sans Bold"/>
                <a:ea typeface="Noto Sans Bold"/>
                <a:cs typeface="Times New Roman" panose="02020603050405020304" pitchFamily="18" charset="0"/>
                <a:sym typeface="Noto Sans Bold"/>
              </a:rPr>
              <a:t>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1011" y="9792605"/>
            <a:ext cx="3105231" cy="20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5F6D7F"/>
                </a:solidFill>
                <a:latin typeface="Noto Sans"/>
                <a:ea typeface="Noto Sans"/>
                <a:cs typeface="Times New Roman" panose="02020603050405020304" pitchFamily="18" charset="0"/>
                <a:sym typeface="Noto Sans"/>
              </a:rPr>
              <a:t>SKILL DEVELOPMENT LAB–II • AY 2026–27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68951" y="4523080"/>
            <a:ext cx="2947697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2A66B5"/>
                </a:solidFill>
                <a:latin typeface="Noto Sans"/>
                <a:ea typeface="Noto Sans"/>
                <a:cs typeface="Times New Roman" panose="02020603050405020304" pitchFamily="18" charset="0"/>
                <a:sym typeface="Noto Sans"/>
              </a:rPr>
              <a:t>https://docs.oracle.com/en/java/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268951" y="5181333"/>
            <a:ext cx="3620610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2A66B5"/>
                </a:solidFill>
                <a:latin typeface="Noto Sans"/>
                <a:ea typeface="Noto Sans"/>
                <a:cs typeface="Times New Roman" panose="02020603050405020304" pitchFamily="18" charset="0"/>
                <a:sym typeface="Noto Sans"/>
              </a:rPr>
              <a:t>https://jakarta.ee/specifications/servlet/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68951" y="5839601"/>
            <a:ext cx="4220599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2A66B5"/>
                </a:solidFill>
                <a:latin typeface="Noto Sans"/>
                <a:ea typeface="Noto Sans"/>
                <a:cs typeface="Times New Roman" panose="02020603050405020304" pitchFamily="18" charset="0"/>
                <a:sym typeface="Noto Sans"/>
              </a:rPr>
              <a:t>https://eclipse.dev/eclipselink/documentation/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68951" y="6497855"/>
            <a:ext cx="2491769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2A66B5"/>
                </a:solidFill>
                <a:latin typeface="Noto Sans"/>
                <a:ea typeface="Noto Sans"/>
                <a:cs typeface="Times New Roman" panose="02020603050405020304" pitchFamily="18" charset="0"/>
                <a:sym typeface="Noto Sans"/>
              </a:rPr>
              <a:t>https://dev.mysql.com/doc/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68951" y="7156109"/>
            <a:ext cx="2454635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2A66B5"/>
                </a:solidFill>
                <a:latin typeface="Noto Sans"/>
                <a:ea typeface="Noto Sans"/>
                <a:cs typeface="Times New Roman" panose="02020603050405020304" pitchFamily="18" charset="0"/>
                <a:sym typeface="Noto Sans"/>
              </a:rPr>
              <a:t>https://tomcat.apache.org/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268951" y="7814920"/>
            <a:ext cx="3113932" cy="26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500">
                <a:solidFill>
                  <a:srgbClr val="2A66B5"/>
                </a:solidFill>
                <a:latin typeface="Noto Sans"/>
                <a:ea typeface="Noto Sans"/>
                <a:cs typeface="Times New Roman" panose="02020603050405020304" pitchFamily="18" charset="0"/>
                <a:sym typeface="Noto Sans"/>
              </a:rPr>
              <a:t>https://maven.apache.org/guides/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AB3412-2751-BAF7-E9B8-89062DF2F4A9}"/>
              </a:ext>
            </a:extLst>
          </p:cNvPr>
          <p:cNvSpPr txBox="1"/>
          <p:nvPr/>
        </p:nvSpPr>
        <p:spPr>
          <a:xfrm>
            <a:off x="7239000" y="4038600"/>
            <a:ext cx="411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29001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1077</Words>
  <Application>Microsoft Office PowerPoint</Application>
  <PresentationFormat>Custom</PresentationFormat>
  <Paragraphs>250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Noto Sans</vt:lpstr>
      <vt:lpstr>Arial</vt:lpstr>
      <vt:lpstr>TT Phobos Bold</vt:lpstr>
      <vt:lpstr>Noto Sans Bold</vt:lpstr>
      <vt:lpstr>Times New Roman</vt:lpstr>
      <vt:lpstr>Calibri</vt:lpstr>
      <vt:lpstr>Times New Roman Bold</vt:lpstr>
      <vt:lpstr>DejaVu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</dc:title>
  <dc:creator>VIVOBOOK</dc:creator>
  <cp:lastModifiedBy>abhishek jha</cp:lastModifiedBy>
  <cp:revision>2</cp:revision>
  <dcterms:created xsi:type="dcterms:W3CDTF">2006-08-16T00:00:00Z</dcterms:created>
  <dcterms:modified xsi:type="dcterms:W3CDTF">2026-10-23T04:24:57Z</dcterms:modified>
  <dc:identifier>DAHXh-Xc6Sw</dc:identifier>
</cp:coreProperties>
</file>