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3" r:id="rId3"/>
    <p:sldId id="274" r:id="rId4"/>
    <p:sldId id="278" r:id="rId5"/>
    <p:sldId id="279" r:id="rId6"/>
    <p:sldId id="283" r:id="rId7"/>
    <p:sldId id="286" r:id="rId8"/>
    <p:sldId id="282" r:id="rId9"/>
    <p:sldId id="287" r:id="rId10"/>
    <p:sldId id="285" r:id="rId11"/>
    <p:sldId id="266" r:id="rId12"/>
    <p:sldId id="28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4EAD6-CBEC-D958-052B-DF3D178A2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47DD5-27FB-0312-0196-9F9CCB491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A96B0-42F0-B6BE-858E-3F37A9A6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639AE-19E0-5C98-4257-3293FB2F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73843-D0C1-A20A-550F-80D891FE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6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574C-88E1-CA88-D90F-C8870707F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7DEAE-A6FD-633C-AEB4-3393539F5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33A0C-F086-C588-50C8-7D2EBEFB6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6910-BB6C-F6DA-E286-B0C859B0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F91D5-4019-B8A3-FF45-788CC2DCF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0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F0A4F-242E-F988-3B0B-8DF46060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4A98B-20F2-963F-252F-C72C13EB9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C30F4-5524-B2A9-A88F-93367944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AC5F-C46D-6FEC-8B5C-AA2CB3D93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4D8A6-6654-F295-C924-07829EC7D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64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DE40-9CE3-9C7C-2EA7-74173CF3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E6194-BFCB-D472-F868-67595B56C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7D141-56C8-3C59-7CE7-D014F56EB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8B708-1173-AC6C-C8AC-7A5277DD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437C3-A812-F5C8-B35B-937287CD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88DF2-6D47-EAFE-AF8D-F7C53A43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63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99F3-C024-7F37-C217-85ACCFF75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C6FA5-4E9C-FB89-D897-57508A3A4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28EFC-2081-F9A1-0683-A5B79A961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7310F-29AF-DC98-A254-A2B54CACB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6301E9-32B7-E2C3-E891-A47935730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F7B11D-22FF-DE88-9778-DC042C185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B32D4A-76B9-098B-381B-10DC2A18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64648-F8E2-26B8-E78D-2DAA099D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5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AFAA1-907F-D1D9-F65D-9C1832C5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2FA723-2B95-BBF2-EF05-1644BB3E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44646-39F2-9FE8-B234-7F0382EB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06650-3D0C-881E-4F95-11C874E3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99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06F110-23CB-E8E6-4583-5008169D5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963593-A526-8E35-FB54-DFE0A64C0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899F8-95FB-0C94-1B53-96A017ECE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BC4A6-F9C8-A369-7E98-657C0144A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2442A-7056-B452-15E9-CB75E1345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5007C-919C-5C49-54AD-59C0D01A4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B09C3-B0D5-5B5F-FB7A-E8131892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5F6E0-1F09-647C-8267-ACB14FF2C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09AAC-231F-104F-701E-86FA8E0CC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24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B0BC-955C-6259-0C09-F95A4EA7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F2C449-8583-5CBB-B1BA-15CDF8ADE0C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A6FAF-4390-D4A4-D40B-BBC2DC7A2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73FBD-AF5C-4504-6CF9-FA0C2427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66D8A-55A6-ED20-C8D3-A57B5941A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22228-488D-1C7D-8921-249F2F74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37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EC974-BB87-7CCB-2005-646209400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95598-0AD3-23E0-C1DF-686DE7843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3726A-2A81-2FEA-9E09-B01452872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75DBC-AB3B-38A8-2C6D-05B25B081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45377-CBAC-9157-C71C-C9FC1A32A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26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1BC834-D2C7-5BF7-3FEF-762AFD087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A58CB-BBFA-0C16-97D0-8E99B7CCF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6352F-6DE8-F4F6-380B-86D9CF294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F8900-4E1C-38A0-A311-748FCC175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06696-EC0E-274D-BE79-B5346AF5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28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09FCB2-1FEB-98CD-A6C9-AC2960F4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C1B98-D54B-6F09-F374-839910870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69A09-2D46-2FC9-EFEC-9C8620168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CC292-2F1B-59B1-65BB-882C3DF93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7B9F5-4432-D1D7-8493-2685B5920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64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JSPM s Rajarshi Shahu College of Engineering, Tathawade - 2023 Admission,  Fees, Courses, Ranking, Placement">
            <a:extLst>
              <a:ext uri="{FF2B5EF4-FFF2-40B4-BE49-F238E27FC236}">
                <a16:creationId xmlns:a16="http://schemas.microsoft.com/office/drawing/2014/main" id="{2AC37EFD-D716-4491-B060-F8223104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" y="320040"/>
            <a:ext cx="1051560" cy="100584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609B56-7E2F-4878-BFF9-1726B9C0D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152" y="320040"/>
            <a:ext cx="105156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20240" y="256032"/>
            <a:ext cx="8321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JSPM’s</a:t>
            </a:r>
          </a:p>
          <a:p>
            <a:pPr algn="ctr">
              <a:spcAft>
                <a:spcPts val="100"/>
              </a:spcAft>
              <a:defRPr sz="1400" b="1">
                <a:solidFill>
                  <a:srgbClr val="1F4E79"/>
                </a:solidFill>
                <a:latin typeface="Calibri"/>
              </a:defRPr>
            </a:pPr>
            <a:r>
              <a:t>Rajarshi Shahu College of Engineering, Tathawade, Pune</a:t>
            </a:r>
          </a:p>
          <a:p>
            <a:pPr algn="ctr">
              <a:spcAft>
                <a:spcPts val="100"/>
              </a:spcAft>
              <a:defRPr sz="1050" i="1">
                <a:solidFill>
                  <a:srgbClr val="64748B"/>
                </a:solidFill>
                <a:latin typeface="Calibri"/>
              </a:defRPr>
            </a:pPr>
            <a:r>
              <a:t>(An Autonomous Institute affiliated to Savitribai Phule Pune University)</a:t>
            </a:r>
          </a:p>
          <a:p>
            <a:pPr algn="ctr">
              <a:spcAft>
                <a:spcPts val="100"/>
              </a:spcAft>
              <a:defRPr sz="1250" b="1">
                <a:solidFill>
                  <a:srgbClr val="1F4E79"/>
                </a:solidFill>
                <a:latin typeface="Calibri"/>
              </a:defRPr>
            </a:pPr>
            <a:r>
              <a:t>Department of Computer Science and Business Systems</a:t>
            </a:r>
          </a:p>
          <a:p>
            <a:pPr algn="ctr">
              <a:defRPr sz="1100" b="1">
                <a:solidFill>
                  <a:srgbClr val="1E293B"/>
                </a:solidFill>
                <a:latin typeface="Calibri"/>
              </a:defRPr>
            </a:pPr>
            <a:r>
              <a:t>Academic Year: 2026–27 | Semester 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463040"/>
            <a:ext cx="10634472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691640"/>
            <a:ext cx="10634472" cy="2148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SKILL DEVELOPMENT LAB-II (SDL-II) • MINI PROJECT PRESENTATION</a:t>
            </a:r>
          </a:p>
          <a:p>
            <a:pPr algn="ctr">
              <a:spcAft>
                <a:spcPts val="500"/>
              </a:spcAft>
              <a:defRPr sz="3200" b="1">
                <a:solidFill>
                  <a:srgbClr val="1F4E79"/>
                </a:solidFill>
                <a:latin typeface="Calibri"/>
              </a:defRPr>
            </a:pPr>
            <a:r>
              <a:t>DeadlineBuddy</a:t>
            </a:r>
          </a:p>
          <a:p>
            <a:pPr algn="ctr">
              <a:defRPr sz="1550" b="1">
                <a:solidFill>
                  <a:srgbClr val="1E293B"/>
                </a:solidFill>
                <a:latin typeface="Calibri"/>
              </a:defRPr>
            </a:pPr>
            <a:r>
              <a:t>A Web-Based Deadline and Task Management System for Engineering Students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69080"/>
            <a:ext cx="516636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l">
              <a:spcAft>
                <a:spcPts val="400"/>
              </a:spcAft>
              <a:defRPr sz="1250" b="1">
                <a:solidFill>
                  <a:srgbClr val="2563EB"/>
                </a:solidFill>
                <a:latin typeface="Calibri"/>
              </a:defRPr>
            </a:pPr>
            <a:r>
              <a:t>STUDENT DETAILS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Student Name: </a:t>
            </a:r>
            <a:r>
              <a:rPr sz="1200">
                <a:solidFill>
                  <a:srgbClr val="1E293B"/>
                </a:solidFill>
                <a:latin typeface="Calibri"/>
              </a:rPr>
              <a:t>Girish Sunil Hapse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• PRN / Roll No: </a:t>
            </a:r>
            <a:r>
              <a:rPr sz="1150">
                <a:solidFill>
                  <a:srgbClr val="1E293B"/>
                </a:solidFill>
                <a:latin typeface="Calibri"/>
              </a:rPr>
              <a:t>RBT24CB067 | Roll No: CB-67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Class &amp; Branch: </a:t>
            </a:r>
            <a:r>
              <a:rPr sz="1100">
                <a:solidFill>
                  <a:srgbClr val="1E293B"/>
                </a:solidFill>
                <a:latin typeface="Calibri"/>
              </a:rPr>
              <a:t>T.Y. B.Tech (Computer Science &amp; Business Systems)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Academic Term: </a:t>
            </a:r>
            <a:r>
              <a:rPr sz="1100">
                <a:solidFill>
                  <a:srgbClr val="1E293B"/>
                </a:solidFill>
                <a:latin typeface="Calibri"/>
              </a:rPr>
              <a:t>Semester V (Academic Year 2026–27)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4069080"/>
            <a:ext cx="516636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l">
              <a:spcAft>
                <a:spcPts val="400"/>
              </a:spcAft>
              <a:defRPr sz="1250" b="1">
                <a:solidFill>
                  <a:srgbClr val="2563EB"/>
                </a:solidFill>
                <a:latin typeface="Calibri"/>
              </a:defRPr>
            </a:pPr>
            <a:r>
              <a:t>COURSE &amp; FACULTY GUIDANCE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Course Name: </a:t>
            </a:r>
            <a:r>
              <a:rPr sz="1200">
                <a:solidFill>
                  <a:srgbClr val="1E293B"/>
                </a:solidFill>
                <a:latin typeface="Calibri"/>
              </a:rPr>
              <a:t>Skill Development Lab-II (SDL-II)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200" b="1">
                <a:solidFill>
                  <a:srgbClr val="1F4E79"/>
                </a:solidFill>
                <a:latin typeface="Calibri"/>
              </a:rPr>
              <a:t>• Project Guide: </a:t>
            </a:r>
            <a:r>
              <a:rPr sz="1200">
                <a:solidFill>
                  <a:srgbClr val="1E293B"/>
                </a:solidFill>
                <a:latin typeface="Calibri"/>
              </a:rPr>
              <a:t>Prof. Rutuja S. Bachhav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Designation: </a:t>
            </a:r>
            <a:r>
              <a:rPr sz="1100">
                <a:solidFill>
                  <a:srgbClr val="1E293B"/>
                </a:solidFill>
                <a:latin typeface="Calibri"/>
              </a:rPr>
              <a:t>Course Coordinator, Department of CSBS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Presentation Date: </a:t>
            </a:r>
            <a:r>
              <a:rPr sz="1100">
                <a:solidFill>
                  <a:srgbClr val="1E293B"/>
                </a:solidFill>
                <a:latin typeface="Calibri"/>
              </a:rPr>
              <a:t>23 October 2026</a:t>
            </a:r>
          </a:p>
        </p:txBody>
      </p:sp>
    </p:spTree>
    <p:extLst>
      <p:ext uri="{BB962C8B-B14F-4D97-AF65-F5344CB8AC3E}">
        <p14:creationId xmlns:p14="http://schemas.microsoft.com/office/powerpoint/2010/main" val="360233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2341-A07E-40AE-B9DD-ADCB962BA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20040"/>
            <a:ext cx="7772400" cy="594360"/>
          </a:xfrm>
        </p:spPr>
        <p:txBody>
          <a:bodyPr wrap="square" anchor="ctr">
            <a:normAutofit/>
          </a:bodyPr>
          <a:lstStyle/>
          <a:p>
            <a:pPr algn="l">
              <a:defRPr sz="2400" b="1">
                <a:solidFill>
                  <a:srgbClr val="1F4E79"/>
                </a:solidFill>
                <a:latin typeface="Calibri"/>
              </a:defRPr>
            </a:pPr>
            <a:r>
              <a:t>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32688"/>
            <a:ext cx="20116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384048"/>
            <a:ext cx="3090672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F4E79"/>
                </a:solidFill>
                <a:latin typeface="Calibri"/>
              </a:defRPr>
            </a:pPr>
            <a:r>
              <a:t>SKILL DEVELOPMENT LAB-II • AY 2026–27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51663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 rIns="18288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[01]  </a:t>
            </a:r>
            <a:r>
              <a:rPr sz="1200" b="1">
                <a:solidFill>
                  <a:srgbClr val="1F4E79"/>
                </a:solidFill>
                <a:latin typeface="Calibri"/>
              </a:rPr>
              <a:t>Introduction / Background</a:t>
            </a:r>
          </a:p>
          <a:p>
            <a:pPr algn="l">
              <a:defRPr sz="1000">
                <a:solidFill>
                  <a:srgbClr val="1E293B"/>
                </a:solidFill>
                <a:latin typeface="Calibri"/>
              </a:defRPr>
            </a:pPr>
            <a:r>
              <a:t>Academic domain context, student workload friction, and core 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51663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 rIns="18288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[02]  </a:t>
            </a:r>
            <a:r>
              <a:rPr sz="1200" b="1">
                <a:solidFill>
                  <a:srgbClr val="1F4E79"/>
                </a:solidFill>
                <a:latin typeface="Calibri"/>
              </a:rPr>
              <a:t>Problem Definition &amp; Objectives</a:t>
            </a:r>
          </a:p>
          <a:p>
            <a:pPr algn="l">
              <a:defRPr sz="1000">
                <a:solidFill>
                  <a:srgbClr val="1E293B"/>
                </a:solidFill>
                <a:latin typeface="Calibri"/>
              </a:defRPr>
            </a:pPr>
            <a:r>
              <a:t>Task fragmentation, lack of academic taxonomy, and 5 measurable goals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51663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 rIns="18288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[03]  </a:t>
            </a:r>
            <a:r>
              <a:rPr sz="1200" b="1">
                <a:solidFill>
                  <a:srgbClr val="1F4E79"/>
                </a:solidFill>
                <a:latin typeface="Calibri"/>
              </a:rPr>
              <a:t>Literature Survey &amp; Gap Analysis</a:t>
            </a:r>
          </a:p>
          <a:p>
            <a:pPr algn="l">
              <a:defRPr sz="1000">
                <a:solidFill>
                  <a:srgbClr val="1E293B"/>
                </a:solidFill>
                <a:latin typeface="Calibri"/>
              </a:defRPr>
            </a:pPr>
            <a:r>
              <a:t>Evaluation of to-do apps, calendars, institutional LMS, and 4 critical gaps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43400"/>
            <a:ext cx="51663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 rIns="18288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[04]  </a:t>
            </a:r>
            <a:r>
              <a:rPr sz="1200" b="1">
                <a:solidFill>
                  <a:srgbClr val="1F4E79"/>
                </a:solidFill>
                <a:latin typeface="Calibri"/>
              </a:rPr>
              <a:t>Feasibility Study</a:t>
            </a:r>
          </a:p>
          <a:p>
            <a:pPr algn="l">
              <a:defRPr sz="1000">
                <a:solidFill>
                  <a:srgbClr val="1E293B"/>
                </a:solidFill>
                <a:latin typeface="Calibri"/>
              </a:defRPr>
            </a:pPr>
            <a:r>
              <a:t>Comprehensive Technical, Financial / Business, and Operational feasibility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394960"/>
            <a:ext cx="51663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 rIns="18288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[05]  </a:t>
            </a:r>
            <a:r>
              <a:rPr sz="1200" b="1">
                <a:solidFill>
                  <a:srgbClr val="1F4E79"/>
                </a:solidFill>
                <a:latin typeface="Calibri"/>
              </a:rPr>
              <a:t>System Design &amp; Architecture</a:t>
            </a:r>
          </a:p>
          <a:p>
            <a:pPr algn="l">
              <a:defRPr sz="1000">
                <a:solidFill>
                  <a:srgbClr val="1E293B"/>
                </a:solidFill>
                <a:latin typeface="Calibri"/>
              </a:defRPr>
            </a:pPr>
            <a:r>
              <a:t>3-Tier MVC architecture, data flow cycle, and relational DB isolation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188720"/>
            <a:ext cx="51663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 rIns="18288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[06]  </a:t>
            </a:r>
            <a:r>
              <a:rPr sz="1200" b="1">
                <a:solidFill>
                  <a:srgbClr val="1F4E79"/>
                </a:solidFill>
                <a:latin typeface="Calibri"/>
              </a:rPr>
              <a:t>Technology &amp; Tools Used</a:t>
            </a:r>
          </a:p>
          <a:p>
            <a:pPr algn="l">
              <a:defRPr sz="1000">
                <a:solidFill>
                  <a:srgbClr val="1E293B"/>
                </a:solidFill>
                <a:latin typeface="Calibri"/>
              </a:defRPr>
            </a:pPr>
            <a:r>
              <a:t>Jakarta EE 10, GlassFish 7.1.1, JPA EclipseLink, MySQL 8.0, and Bootstrap 5.3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423160"/>
            <a:ext cx="51663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 rIns="18288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[07]  </a:t>
            </a:r>
            <a:r>
              <a:rPr sz="1200" b="1">
                <a:solidFill>
                  <a:srgbClr val="1F4E79"/>
                </a:solidFill>
                <a:latin typeface="Calibri"/>
              </a:rPr>
              <a:t>Implementation &amp; Results</a:t>
            </a:r>
          </a:p>
          <a:p>
            <a:pPr algn="l">
              <a:defRPr sz="1000">
                <a:solidFill>
                  <a:srgbClr val="1E293B"/>
                </a:solidFill>
                <a:latin typeface="Calibri"/>
              </a:defRPr>
            </a:pPr>
            <a:r>
              <a:t>Core functional modules, UI dashboard, and 264/264 automated QA assertions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3657600"/>
            <a:ext cx="51663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 rIns="18288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[08]  </a:t>
            </a:r>
            <a:r>
              <a:rPr sz="1200" b="1">
                <a:solidFill>
                  <a:srgbClr val="1F4E79"/>
                </a:solidFill>
                <a:latin typeface="Calibri"/>
              </a:rPr>
              <a:t>Conclusion &amp; Future Scope</a:t>
            </a:r>
          </a:p>
          <a:p>
            <a:pPr algn="l">
              <a:defRPr sz="1000">
                <a:solidFill>
                  <a:srgbClr val="1E293B"/>
                </a:solidFill>
                <a:latin typeface="Calibri"/>
              </a:defRPr>
            </a:pPr>
            <a:r>
              <a:t>Key technical achievements, current limitations, and prospective roadmap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4892040"/>
            <a:ext cx="51663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 rIns="18288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[09]  </a:t>
            </a:r>
            <a:r>
              <a:rPr sz="1200" b="1">
                <a:solidFill>
                  <a:srgbClr val="1F4E79"/>
                </a:solidFill>
                <a:latin typeface="Calibri"/>
              </a:rPr>
              <a:t>References</a:t>
            </a:r>
          </a:p>
          <a:p>
            <a:pPr algn="l">
              <a:defRPr sz="1000">
                <a:solidFill>
                  <a:srgbClr val="1E293B"/>
                </a:solidFill>
                <a:latin typeface="Calibri"/>
              </a:defRPr>
            </a:pPr>
            <a:r>
              <a:t>Standard IEEE citations, enterprise specifications, and technical whitepapers</a:t>
            </a:r>
          </a:p>
        </p:txBody>
      </p:sp>
    </p:spTree>
    <p:extLst>
      <p:ext uri="{BB962C8B-B14F-4D97-AF65-F5344CB8AC3E}">
        <p14:creationId xmlns:p14="http://schemas.microsoft.com/office/powerpoint/2010/main" val="953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4D90-6573-47F2-857B-6146DAACF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20040"/>
            <a:ext cx="7772400" cy="594360"/>
          </a:xfrm>
        </p:spPr>
        <p:txBody>
          <a:bodyPr wrap="square" anchor="ctr">
            <a:normAutofit/>
          </a:bodyPr>
          <a:lstStyle/>
          <a:p>
            <a:pPr algn="l">
              <a:defRPr sz="2400" b="1">
                <a:solidFill>
                  <a:srgbClr val="1F4E79"/>
                </a:solidFill>
                <a:latin typeface="Calibri"/>
              </a:defRPr>
            </a:pPr>
            <a:r>
              <a:t>Introduction /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32688"/>
            <a:ext cx="20116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384048"/>
            <a:ext cx="3090672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F4E79"/>
                </a:solidFill>
                <a:latin typeface="Calibri"/>
              </a:defRPr>
            </a:pPr>
            <a:r>
              <a:t>SKILL DEVELOPMENT LAB-II • AY 2026–27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43000"/>
            <a:ext cx="10634472" cy="868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DEFINITION &amp; EXECUTIVE OVERVIEW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DeadlineBuddy is a secure, high-performance web-based deadline and task management platform built on Jakarta EE 10. It is engineered specifically for engineering students to eliminate deadline amnesia, unify fragmented submission notices, and track course-wise academic deliverables.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516636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l">
              <a:spcAft>
                <a:spcPts val="4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INTRODUCTION &amp; DOMAIN CONTEXT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High Academic Load: </a:t>
            </a:r>
            <a:r>
              <a:rPr sz="1100">
                <a:solidFill>
                  <a:srgbClr val="1E293B"/>
                </a:solidFill>
                <a:latin typeface="Calibri"/>
              </a:rPr>
              <a:t>Engineering curricula require managing 5–6 theoretical subjects alongside 3–4 practical laboratories per semester.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15–20 Concurrent Milestones: </a:t>
            </a:r>
            <a:r>
              <a:rPr sz="1100">
                <a:solidFill>
                  <a:srgbClr val="1E293B"/>
                </a:solidFill>
                <a:latin typeface="Calibri"/>
              </a:rPr>
              <a:t>During peak mid-term and end-term weeks, students balance 15 to 20 overlapping deadlines (assignments, lab journals, seminars, project reviews).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Channel Fragmentation: </a:t>
            </a:r>
            <a:r>
              <a:rPr sz="1100">
                <a:solidFill>
                  <a:srgbClr val="1E293B"/>
                </a:solidFill>
                <a:latin typeface="Calibri"/>
              </a:rPr>
              <a:t>Milestones are scattered haphazardly across unofficial WhatsApp groups, college LMS portals, Discord servers, and physical lab notice boards.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Cognitive Fatigue &amp; Amnesia: </a:t>
            </a:r>
            <a:r>
              <a:rPr sz="1100">
                <a:solidFill>
                  <a:srgbClr val="1E293B"/>
                </a:solidFill>
                <a:latin typeface="Calibri"/>
              </a:rPr>
              <a:t>Students lack a centralized schedule, leading to forgotten deadlines, late submission grade penalties, and acute academic distress.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Evolution from Paper to Web: </a:t>
            </a:r>
            <a:r>
              <a:rPr sz="1100">
                <a:solidFill>
                  <a:srgbClr val="1E293B"/>
                </a:solidFill>
                <a:latin typeface="Calibri"/>
              </a:rPr>
              <a:t>Manual paper diaries get lost; generic phone to-do apps lack academic course structures. An academic-aware relational web portal is essential.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148840"/>
            <a:ext cx="516636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l">
              <a:spcAft>
                <a:spcPts val="40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CORE MOTIVATION IN TODAY'S TECH LANDSCAPE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Enterprise Java Relevance: </a:t>
            </a:r>
            <a:r>
              <a:rPr sz="1100">
                <a:solidFill>
                  <a:srgbClr val="1E293B"/>
                </a:solidFill>
                <a:latin typeface="Calibri"/>
              </a:rPr>
              <a:t>Demonstrates production-ready enterprise software engineering using Jakarta EE 10, Java Servlets 6.0, JPA 3.1, and MySQL 8.0.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Academic Self-Regulation: </a:t>
            </a:r>
            <a:r>
              <a:rPr sz="1100">
                <a:solidFill>
                  <a:srgbClr val="1E293B"/>
                </a:solidFill>
                <a:latin typeface="Calibri"/>
              </a:rPr>
              <a:t>Provides instant temporal feedback (Overdue, Due Today, Upcoming), fostering student accountability, structured study routines, and improved CGPA.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Relational Academic Model: </a:t>
            </a:r>
            <a:r>
              <a:rPr sz="1100">
                <a:solidFill>
                  <a:srgbClr val="1E293B"/>
                </a:solidFill>
                <a:latin typeface="Calibri"/>
              </a:rPr>
              <a:t>Uniquely models the natural educational hierarchy: Student → Subject → Task Type (Assignment vs Practical vs Submission vs Exam).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Defensive Security Standard: </a:t>
            </a:r>
            <a:r>
              <a:rPr sz="1100">
                <a:solidFill>
                  <a:srgbClr val="1E293B"/>
                </a:solidFill>
                <a:latin typeface="Calibri"/>
              </a:rPr>
              <a:t>Protects student data with OWASP-grade defenses: PBKDF2 hashing (210,000 iterations), CSRF tokens, and database composite foreign keys.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Lightweight &amp; Zero-Bloat: </a:t>
            </a:r>
            <a:r>
              <a:rPr sz="1100">
                <a:solidFill>
                  <a:srgbClr val="1E293B"/>
                </a:solidFill>
                <a:latin typeface="Calibri"/>
              </a:rPr>
              <a:t>Leverages native server-side rendering (JSP/JSTL + Bootstrap 5.3) for lightning-fast sub-40ms loads without complex client build tools.</a:t>
            </a:r>
          </a:p>
        </p:txBody>
      </p:sp>
    </p:spTree>
    <p:extLst>
      <p:ext uri="{BB962C8B-B14F-4D97-AF65-F5344CB8AC3E}">
        <p14:creationId xmlns:p14="http://schemas.microsoft.com/office/powerpoint/2010/main" val="198337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E2CD-E867-43E3-B74F-DB925840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20040"/>
            <a:ext cx="7772400" cy="594360"/>
          </a:xfrm>
        </p:spPr>
        <p:txBody>
          <a:bodyPr wrap="square" anchor="ctr"/>
          <a:lstStyle/>
          <a:p>
            <a:pPr algn="l">
              <a:defRPr sz="2400" b="1">
                <a:solidFill>
                  <a:srgbClr val="1F4E79"/>
                </a:solidFill>
                <a:latin typeface="Calibri"/>
              </a:defRPr>
            </a:pPr>
            <a:r>
              <a:t>Problem Definition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32688"/>
            <a:ext cx="20116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384048"/>
            <a:ext cx="3090672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F4E79"/>
                </a:solidFill>
                <a:latin typeface="Calibri"/>
              </a:defRPr>
            </a:pPr>
            <a:r>
              <a:t>SKILL DEVELOPMENT LAB-II • AY 2026–27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43000"/>
            <a:ext cx="5166360" cy="5349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/>
          <a:lstStyle/>
          <a:p>
            <a:pPr algn="l">
              <a:spcAft>
                <a:spcPts val="400"/>
              </a:spcAft>
              <a:defRPr sz="1300" b="1">
                <a:solidFill>
                  <a:srgbClr val="D97706"/>
                </a:solidFill>
                <a:latin typeface="Calibri"/>
              </a:defRPr>
            </a:pPr>
            <a:r>
              <a:t>PROBLEM DEFINITION (THE ACADEMIC BOTTLENECKS)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1. Announcement Dispersion: </a:t>
            </a:r>
            <a:r>
              <a:rPr sz="1100">
                <a:solidFill>
                  <a:srgbClr val="1E293B"/>
                </a:solidFill>
                <a:latin typeface="Calibri"/>
              </a:rPr>
              <a:t>Critical submission dates are buried within fast-moving chat groups, emails, and physical lab notices, causing students to overlook deadlines.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2. Lack of Academic Categorization: </a:t>
            </a:r>
            <a:r>
              <a:rPr sz="1100">
                <a:solidFill>
                  <a:srgbClr val="1E293B"/>
                </a:solidFill>
                <a:latin typeface="Calibri"/>
              </a:rPr>
              <a:t>Generic productivity tools treat all tasks identically, failing to distinguish a minor homework assignment from a heavy final practical submission.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3. Silent Deadline Expiry: </a:t>
            </a:r>
            <a:r>
              <a:rPr sz="1100">
                <a:solidFill>
                  <a:srgbClr val="1E293B"/>
                </a:solidFill>
                <a:latin typeface="Calibri"/>
              </a:rPr>
              <a:t>Digital calendars allow deadlines to silently pass without actively highlighting overdue submission debt or showing subject completion progress.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4. Security Vulnerabilities in Student Apps: </a:t>
            </a:r>
            <a:r>
              <a:rPr sz="1100">
                <a:solidFill>
                  <a:srgbClr val="1E293B"/>
                </a:solidFill>
                <a:latin typeface="Calibri"/>
              </a:rPr>
              <a:t>Most student-built portals rely on plaintext or unsalted MD5 passwords, lack CSRF token protection, and suffer from cross-user data leakage.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5. Client-Side Framework Bloat: </a:t>
            </a:r>
            <a:r>
              <a:rPr sz="1100">
                <a:solidFill>
                  <a:srgbClr val="1E293B"/>
                </a:solidFill>
                <a:latin typeface="Calibri"/>
              </a:rPr>
              <a:t>Modern SPAs introduce heavy npm dependencies and slow bundle parsing on entry-level student smartphones and laptops.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143000"/>
            <a:ext cx="5166360" cy="5349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/>
          <a:lstStyle/>
          <a:p>
            <a:pPr algn="l">
              <a:spcAft>
                <a:spcPts val="4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PROJECT OBJECTIVES (TECHNICAL GOALS)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Objective 1 — Multi-Tier Enterprise Architecture: </a:t>
            </a:r>
            <a:r>
              <a:rPr sz="1100">
                <a:solidFill>
                  <a:srgbClr val="1E293B"/>
                </a:solidFill>
                <a:latin typeface="Calibri"/>
              </a:rPr>
              <a:t>Design and deploy a 3-tier MVC architecture on Jakarta EE 10, Java Servlets, JSP/JSTL, and JPA EclipseLink on Eclipse GlassFish 7.1.1.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Objective 2 — Dynamic Temporal State Engine: </a:t>
            </a:r>
            <a:r>
              <a:rPr sz="1100">
                <a:solidFill>
                  <a:srgbClr val="1E293B"/>
                </a:solidFill>
                <a:latin typeface="Calibri"/>
              </a:rPr>
              <a:t>Automatically classify tasks into Overdue, Due Today, Upcoming (within 7 days), and Completed based on real-time server timestamp evaluations.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Objective 3 — Subject Portfolio &amp; Progress Tracking: </a:t>
            </a:r>
            <a:r>
              <a:rPr sz="1100">
                <a:solidFill>
                  <a:srgbClr val="1E293B"/>
                </a:solidFill>
                <a:latin typeface="Calibri"/>
              </a:rPr>
              <a:t>Provide personalized course management with hex color coding and visual progress bars showing subject-wise completion percentages.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Objective 4 — Defense-in-Depth Security: </a:t>
            </a:r>
            <a:r>
              <a:rPr sz="1100">
                <a:solidFill>
                  <a:srgbClr val="1E293B"/>
                </a:solidFill>
                <a:latin typeface="Calibri"/>
              </a:rPr>
              <a:t>Enforce PBKDF2-HMAC-SHA256 password hashing (210,000 rounds), anti-CSRF token verification, session regeneration, and composite foreign key isolation.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• Objective 5 — Empirical QA Validation: </a:t>
            </a:r>
            <a:r>
              <a:rPr sz="1100">
                <a:solidFill>
                  <a:srgbClr val="1E293B"/>
                </a:solidFill>
                <a:latin typeface="Calibri"/>
              </a:rPr>
              <a:t>Verify 100% reliability and zero regression across all routes using an automated HTTP test suite with 264 passing test assertions.</a:t>
            </a:r>
          </a:p>
        </p:txBody>
      </p:sp>
    </p:spTree>
    <p:extLst>
      <p:ext uri="{BB962C8B-B14F-4D97-AF65-F5344CB8AC3E}">
        <p14:creationId xmlns:p14="http://schemas.microsoft.com/office/powerpoint/2010/main" val="18175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7A29-E4E0-430B-B67A-F1E02C080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20040"/>
            <a:ext cx="7772400" cy="594360"/>
          </a:xfrm>
        </p:spPr>
        <p:txBody>
          <a:bodyPr wrap="square" anchor="ctr"/>
          <a:lstStyle/>
          <a:p>
            <a:pPr algn="l">
              <a:defRPr sz="2400" b="1">
                <a:solidFill>
                  <a:srgbClr val="1F4E79"/>
                </a:solidFill>
                <a:latin typeface="Calibri"/>
              </a:defRPr>
            </a:pPr>
            <a:r>
              <a:t>Literature Survey &amp; Gap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32688"/>
            <a:ext cx="20116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384048"/>
            <a:ext cx="3090672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F4E79"/>
                </a:solidFill>
                <a:latin typeface="Calibri"/>
              </a:defRPr>
            </a:pPr>
            <a:r>
              <a:t>SKILL DEVELOPMENT LAB-II • AY 2026–27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43000"/>
            <a:ext cx="3364992" cy="2788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l">
              <a:spcAft>
                <a:spcPts val="400"/>
              </a:spcAft>
              <a:defRPr sz="1200" b="1">
                <a:solidFill>
                  <a:srgbClr val="1F4E79"/>
                </a:solidFill>
                <a:latin typeface="Calibri"/>
              </a:defRPr>
            </a:pPr>
            <a:r>
              <a:t>Commercial To-Do Apps (Todoist, Any.do, TickTick)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• Strengths: </a:t>
            </a:r>
            <a:r>
              <a:rPr sz="1000">
                <a:solidFill>
                  <a:srgbClr val="1E293B"/>
                </a:solidFill>
                <a:latin typeface="Calibri"/>
              </a:rPr>
              <a:t>Sleek mobile/desktop UI, cross-device sync, general tags.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• Limitations: </a:t>
            </a:r>
            <a:r>
              <a:rPr sz="1000">
                <a:solidFill>
                  <a:srgbClr val="1E293B"/>
                </a:solidFill>
                <a:latin typeface="Calibri"/>
              </a:rPr>
              <a:t>Expensive subscriptions for reminders; treats tasks as flat personal chores; no academic deliverable types or course completion bars.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143000"/>
            <a:ext cx="3364992" cy="2788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l">
              <a:spcAft>
                <a:spcPts val="400"/>
              </a:spcAft>
              <a:defRPr sz="1200" b="1">
                <a:solidFill>
                  <a:srgbClr val="1F4E79"/>
                </a:solidFill>
                <a:latin typeface="Calibri"/>
              </a:defRPr>
            </a:pPr>
            <a:r>
              <a:t>Digital Calendar Systems (Google Calendar, Outlook)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• Strengths: </a:t>
            </a:r>
            <a:r>
              <a:rPr sz="1000">
                <a:solidFill>
                  <a:srgbClr val="1E293B"/>
                </a:solidFill>
                <a:latin typeface="Calibri"/>
              </a:rPr>
              <a:t>Fixed time-slot scheduling, recurring alarms, meeting invites.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• Limitations: </a:t>
            </a:r>
            <a:r>
              <a:rPr sz="1000">
                <a:solidFill>
                  <a:srgbClr val="1E293B"/>
                </a:solidFill>
                <a:latin typeface="Calibri"/>
              </a:rPr>
              <a:t>Events expire and disappear into history; no deliverable state machine (Pending → In Progress → Done); no priority queuing.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37576" y="1143000"/>
            <a:ext cx="3364992" cy="2788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l">
              <a:spcAft>
                <a:spcPts val="400"/>
              </a:spcAft>
              <a:defRPr sz="1200" b="1">
                <a:solidFill>
                  <a:srgbClr val="1F4E79"/>
                </a:solidFill>
                <a:latin typeface="Calibri"/>
              </a:defRPr>
            </a:pPr>
            <a:r>
              <a:t>Institutional LMS (Moodle, Blackboard, Classroom)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• Strengths: </a:t>
            </a:r>
            <a:r>
              <a:rPr sz="1000">
                <a:solidFill>
                  <a:srgbClr val="1E293B"/>
                </a:solidFill>
                <a:latin typeface="Calibri"/>
              </a:rPr>
              <a:t>Official syllabus repository, teacher announcements, formal grading.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• Limitations: </a:t>
            </a:r>
            <a:r>
              <a:rPr sz="1000">
                <a:solidFill>
                  <a:srgbClr val="1E293B"/>
                </a:solidFill>
                <a:latin typeface="Calibri"/>
              </a:rPr>
              <a:t>Strictly teacher-driven; cannot record personal study schedules, peer tasks, or offline homework; cluttered and non-responsive mobile 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069080"/>
            <a:ext cx="10634472" cy="24231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l">
              <a:spcAft>
                <a:spcPts val="400"/>
              </a:spcAft>
              <a:defRPr sz="1250" b="1">
                <a:solidFill>
                  <a:srgbClr val="2563EB"/>
                </a:solidFill>
                <a:latin typeface="Calibri"/>
              </a:defRPr>
            </a:pPr>
            <a:r>
              <a:t>IDENTIFIED RESEARCH &amp; TECHNICAL GAPS (ADDRESSED BY DEADLINEBUDDY)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Gap 1: Absence of Academic Taxonomy — </a:t>
            </a:r>
            <a:r>
              <a:rPr sz="1050">
                <a:solidFill>
                  <a:srgbClr val="1E293B"/>
                </a:solidFill>
                <a:latin typeface="Calibri"/>
              </a:rPr>
              <a:t>Existing tools lack the relational hierarchy: Student → Subject → Task Type (Assignment, Practical, Submission, Exam, Other). DeadlineBuddy models this natively.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Gap 2: Missing Real-Time Overdue &amp; Progress Metrics — </a:t>
            </a:r>
            <a:r>
              <a:rPr sz="1050">
                <a:solidFill>
                  <a:srgbClr val="1E293B"/>
                </a:solidFill>
                <a:latin typeface="Calibri"/>
              </a:rPr>
              <a:t>Commercial tools lack dynamic temporal categorization (Overdue, Due Today, Upcoming) alongside visual subject-level completion progress bars.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Gap 3: Security &amp; Multi-Tenant Vulnerabilities — </a:t>
            </a:r>
            <a:r>
              <a:rPr sz="1050">
                <a:solidFill>
                  <a:srgbClr val="1E293B"/>
                </a:solidFill>
                <a:latin typeface="Calibri"/>
              </a:rPr>
              <a:t>Student portals frequently suffer from unsalted passwords, CSRF exploits, and missing cross-user data isolation. DeadlineBuddy enforces PBKDF2 and composite foreign keys.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Gap 4: Client-Side Framework Bloat — </a:t>
            </a:r>
            <a:r>
              <a:rPr sz="1050">
                <a:solidFill>
                  <a:srgbClr val="1E293B"/>
                </a:solidFill>
                <a:latin typeface="Calibri"/>
              </a:rPr>
              <a:t>Heavy single-page apps suffer from high latency on low-end hardware. DeadlineBuddy uses zero-build server rendering for sub-40ms performance.</a:t>
            </a:r>
          </a:p>
        </p:txBody>
      </p:sp>
    </p:spTree>
    <p:extLst>
      <p:ext uri="{BB962C8B-B14F-4D97-AF65-F5344CB8AC3E}">
        <p14:creationId xmlns:p14="http://schemas.microsoft.com/office/powerpoint/2010/main" val="193036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77F7-0088-48A7-B16F-B6CDD750F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20040"/>
            <a:ext cx="7772400" cy="594360"/>
          </a:xfrm>
        </p:spPr>
        <p:txBody>
          <a:bodyPr wrap="square" anchor="ctr"/>
          <a:lstStyle/>
          <a:p>
            <a:pPr algn="l">
              <a:defRPr sz="2400" b="1">
                <a:solidFill>
                  <a:srgbClr val="1F4E79"/>
                </a:solidFill>
                <a:latin typeface="Calibri"/>
              </a:defRPr>
            </a:pPr>
            <a:r>
              <a:t>Feasibility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32688"/>
            <a:ext cx="20116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384048"/>
            <a:ext cx="3090672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F4E79"/>
                </a:solidFill>
                <a:latin typeface="Calibri"/>
              </a:defRPr>
            </a:pPr>
            <a:r>
              <a:t>SKILL DEVELOPMENT LAB-II • AY 2026–27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43000"/>
            <a:ext cx="3364992" cy="5349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>
              <a:spcAft>
                <a:spcPts val="4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1. TECHNICAL FEASIBILITY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Proven Enterprise Stack: </a:t>
            </a:r>
            <a:r>
              <a:rPr sz="1050">
                <a:solidFill>
                  <a:srgbClr val="1E293B"/>
                </a:solidFill>
                <a:latin typeface="Calibri"/>
              </a:rPr>
              <a:t>Built on battle-tested Jakarta EE 10 standards, Java 17 LTS, and Eclipse GlassFish 7.1.1 application server.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Robust Persistence: </a:t>
            </a:r>
            <a:r>
              <a:rPr sz="1050">
                <a:solidFill>
                  <a:srgbClr val="1E293B"/>
                </a:solidFill>
                <a:latin typeface="Calibri"/>
              </a:rPr>
              <a:t>JPA 3.1 (EclipseLink) over MySQL 8.0 InnoDB provides full ACID transactional guarantees, connection pooling, and schema constraints.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Multi-Tenant Isolation: </a:t>
            </a:r>
            <a:r>
              <a:rPr sz="1050">
                <a:solidFill>
                  <a:srgbClr val="1E293B"/>
                </a:solidFill>
                <a:latin typeface="Calibri"/>
              </a:rPr>
              <a:t>MySQL composite foreign key `(subject_id, user_id)` guarantees row-level data isolation directly at the database engine level.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High Performance: </a:t>
            </a:r>
            <a:r>
              <a:rPr sz="1050">
                <a:solidFill>
                  <a:srgbClr val="1E293B"/>
                </a:solidFill>
                <a:latin typeface="Calibri"/>
              </a:rPr>
              <a:t>Sub-40ms response times with zero client-side compilation; fully responsive across mobile (375px) and desktop (1280px+).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6A34A"/>
                </a:solidFill>
                <a:latin typeface="Calibri"/>
              </a:rPr>
              <a:t>• Technical Verdict: </a:t>
            </a:r>
            <a:r>
              <a:rPr sz="1050">
                <a:solidFill>
                  <a:srgbClr val="16A34A"/>
                </a:solidFill>
                <a:latin typeface="Calibri"/>
              </a:rPr>
              <a:t>HIGHLY FEASIBLE — Standardized Java ecosystem ensures high maintainability and long-term stability.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143000"/>
            <a:ext cx="3364992" cy="5349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>
              <a:spcAft>
                <a:spcPts val="40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2. FINANCIAL / BUSINESS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100% Open-Source Stack: </a:t>
            </a:r>
            <a:r>
              <a:rPr sz="1050">
                <a:solidFill>
                  <a:srgbClr val="1E293B"/>
                </a:solidFill>
                <a:latin typeface="Calibri"/>
              </a:rPr>
              <a:t>Developed entirely with free, open-source technologies (Azul Zulu OpenJDK, MySQL Community, GlassFish, NetBeans, Bootstrap 5.3).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Zero Licensing Overhead: </a:t>
            </a:r>
            <a:r>
              <a:rPr sz="1050">
                <a:solidFill>
                  <a:srgbClr val="1E293B"/>
                </a:solidFill>
                <a:latin typeface="Calibri"/>
              </a:rPr>
              <a:t>₹0 software licensing or recurring subscription costs; no cloud vendor lock-in or proprietary runtime dependencies.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Minimal Hardware Footprint: </a:t>
            </a:r>
            <a:r>
              <a:rPr sz="1050">
                <a:solidFill>
                  <a:srgbClr val="1E293B"/>
                </a:solidFill>
                <a:latin typeface="Calibri"/>
              </a:rPr>
              <a:t>Runs efficiently on existing college servers or low-cost virtual machines without requiring specialized GPU/AI hardware.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High Educational ROI: </a:t>
            </a:r>
            <a:r>
              <a:rPr sz="1050">
                <a:solidFill>
                  <a:srgbClr val="1E293B"/>
                </a:solidFill>
                <a:latin typeface="Calibri"/>
              </a:rPr>
              <a:t>Prevents missed submission penalties, protects student semester CGPAs, and saves faculty significant administrative follow-up time.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6A34A"/>
                </a:solidFill>
                <a:latin typeface="Calibri"/>
              </a:rPr>
              <a:t>• Financial Verdict: </a:t>
            </a:r>
            <a:r>
              <a:rPr sz="1050">
                <a:solidFill>
                  <a:srgbClr val="16A34A"/>
                </a:solidFill>
                <a:latin typeface="Calibri"/>
              </a:rPr>
              <a:t>HIGHLY FEASIBLE — Maximum institutional productivity value with zero financial expenditure.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37576" y="1143000"/>
            <a:ext cx="3364992" cy="5349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>
              <a:spcAft>
                <a:spcPts val="4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3. OPERATIONAL FEASIBILITY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Zero Client Installation: </a:t>
            </a:r>
            <a:r>
              <a:rPr sz="1050">
                <a:solidFill>
                  <a:srgbClr val="1E293B"/>
                </a:solidFill>
                <a:latin typeface="Calibri"/>
              </a:rPr>
              <a:t>100% browser-based; accessible immediately from any smartphone, tablet, or PC without downloading app store packages.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Intuitive User Ergonomics: </a:t>
            </a:r>
            <a:r>
              <a:rPr sz="1050">
                <a:solidFill>
                  <a:srgbClr val="1E293B"/>
                </a:solidFill>
                <a:latin typeface="Calibri"/>
              </a:rPr>
              <a:t>Clean visual dashboard with immediate color-coded alert tiles (Overdue in Red, Due Today in Amber); requires zero student training.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Privacy &amp; Compliance: </a:t>
            </a:r>
            <a:r>
              <a:rPr sz="1050">
                <a:solidFill>
                  <a:srgbClr val="1E293B"/>
                </a:solidFill>
                <a:latin typeface="Calibri"/>
              </a:rPr>
              <a:t>Strict session regeneration and OWASP-aligned cryptographic controls ensure student academic privacy is fully preserved.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Automated QA Assurance: </a:t>
            </a:r>
            <a:r>
              <a:rPr sz="1050">
                <a:solidFill>
                  <a:srgbClr val="1E293B"/>
                </a:solidFill>
                <a:latin typeface="Calibri"/>
              </a:rPr>
              <a:t>Proven 100% test pass rate across 264 HTTP assertions, guaranteeing robust zero-crash operational stability.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6A34A"/>
                </a:solidFill>
                <a:latin typeface="Calibri"/>
              </a:rPr>
              <a:t>• Operational Verdict: </a:t>
            </a:r>
            <a:r>
              <a:rPr sz="1050">
                <a:solidFill>
                  <a:srgbClr val="16A34A"/>
                </a:solidFill>
                <a:latin typeface="Calibri"/>
              </a:rPr>
              <a:t>HIGHLY FEASIBLE — Ready for seamless deployment across department lab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1519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8AD-B1BC-4643-B1DF-6F3D0D7D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20040"/>
            <a:ext cx="7772400" cy="594360"/>
          </a:xfrm>
        </p:spPr>
        <p:txBody>
          <a:bodyPr wrap="square" anchor="ctr">
            <a:normAutofit/>
          </a:bodyPr>
          <a:lstStyle/>
          <a:p>
            <a:pPr algn="l">
              <a:defRPr sz="2400" b="1">
                <a:solidFill>
                  <a:srgbClr val="1F4E79"/>
                </a:solidFill>
                <a:latin typeface="Calibri"/>
              </a:defRPr>
            </a:pPr>
            <a:r>
              <a:t>System Design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32688"/>
            <a:ext cx="20116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384048"/>
            <a:ext cx="3090672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F4E79"/>
                </a:solidFill>
                <a:latin typeface="Calibri"/>
              </a:defRPr>
            </a:pPr>
            <a:r>
              <a:t>SKILL DEVELOPMENT LAB-II • AY 2026–27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43000"/>
            <a:ext cx="58521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5669280" cy="28221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2976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Calibri"/>
              </a:defRPr>
            </a:pPr>
            <a:r>
              <a:t>Figure: Multi-Tier MVC Architecture of DeadlineBuddy on Jakarta EE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54880"/>
            <a:ext cx="5852160" cy="1737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l">
              <a:spcAft>
                <a:spcPts val="400"/>
              </a:spcAft>
              <a:defRPr sz="1150" b="1">
                <a:solidFill>
                  <a:srgbClr val="2563EB"/>
                </a:solidFill>
                <a:latin typeface="Calibri"/>
              </a:defRPr>
            </a:pPr>
            <a:r>
              <a:t>DATABASE COMPOSITE KEY MULTI-TENANT ISOLATION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• Composite Foreign Key: </a:t>
            </a:r>
            <a:r>
              <a:rPr sz="1000">
                <a:solidFill>
                  <a:srgbClr val="1E293B"/>
                </a:solidFill>
                <a:latin typeface="Calibri"/>
              </a:rPr>
              <a:t>FOREIGN KEY (subject_id, user_id) REFERENCES subjects (id, user_id)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• Engine-Level Defense: </a:t>
            </a:r>
            <a:r>
              <a:rPr sz="1000">
                <a:solidFill>
                  <a:srgbClr val="1E293B"/>
                </a:solidFill>
                <a:latin typeface="Calibri"/>
              </a:rPr>
              <a:t>Guarantees that a task can only point to a subject owned by the SAME user. Even if application code were compromised, MySQL rejects unauthorized cross-user modifications.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143000"/>
            <a:ext cx="4645152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3716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Tier 1: Presentation Tier </a:t>
            </a:r>
            <a:r>
              <a:rPr sz="950">
                <a:solidFill>
                  <a:srgbClr val="64748B"/>
                </a:solidFill>
                <a:latin typeface="Calibri"/>
              </a:rPr>
              <a:t>(JSP 3.1 &amp; JSTL 3.0)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Renders responsive Bootstrap 5.3 UI. Automatically injects hidden CSRF tokens into all POST forms; zero client build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514600"/>
            <a:ext cx="4645152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3716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Tier 2: Web &amp; Security Filter Tier </a:t>
            </a:r>
            <a:r>
              <a:rPr sz="950">
                <a:solidFill>
                  <a:srgbClr val="64748B"/>
                </a:solidFill>
                <a:latin typeface="Calibri"/>
              </a:rPr>
              <a:t>(Jakarta Servlets 6.0 &amp; Filters)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AuthFilter protects private routes; CsrfFilter validates synchronized anti-CSRF tokens; Passwords.java manages PBKDF2 hashing.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3886200"/>
            <a:ext cx="4645152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3716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Tier 3: Business Logic Tier </a:t>
            </a:r>
            <a:r>
              <a:rPr sz="950">
                <a:solidFill>
                  <a:srgbClr val="64748B"/>
                </a:solidFill>
                <a:latin typeface="Calibri"/>
              </a:rPr>
              <a:t>(TaskService &amp; SubjectService)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Calculates temporal task states (Overdue / Due Today / Upcoming); aggregates subject completion ratios; validates input bounds.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5257800"/>
            <a:ext cx="4645152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3716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F4E79"/>
                </a:solidFill>
                <a:latin typeface="Calibri"/>
              </a:rPr>
              <a:t>Tier 4: Persistence &amp; Database </a:t>
            </a:r>
            <a:r>
              <a:rPr sz="950">
                <a:solidFill>
                  <a:srgbClr val="64748B"/>
                </a:solidFill>
                <a:latin typeface="Calibri"/>
              </a:rPr>
              <a:t>(JPA 3.1 EclipseLink &amp; MySQL 8.0)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DAO layer manages relational entities with JDBC connection pooling. MySQL 8.0 InnoDB engine ensures ACID compliance.</a:t>
            </a:r>
          </a:p>
        </p:txBody>
      </p:sp>
    </p:spTree>
    <p:extLst>
      <p:ext uri="{BB962C8B-B14F-4D97-AF65-F5344CB8AC3E}">
        <p14:creationId xmlns:p14="http://schemas.microsoft.com/office/powerpoint/2010/main" val="332731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29D-9EA5-4042-BC61-D443DE87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20040"/>
            <a:ext cx="7772400" cy="594360"/>
          </a:xfrm>
        </p:spPr>
        <p:txBody>
          <a:bodyPr wrap="square" anchor="ctr">
            <a:normAutofit/>
          </a:bodyPr>
          <a:lstStyle/>
          <a:p>
            <a:pPr algn="l">
              <a:defRPr sz="2400" b="1">
                <a:solidFill>
                  <a:srgbClr val="1F4E79"/>
                </a:solidFill>
                <a:latin typeface="Calibri"/>
              </a:defRPr>
            </a:pPr>
            <a:r>
              <a:t>Technology &amp; Tools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32688"/>
            <a:ext cx="20116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384048"/>
            <a:ext cx="3090672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F4E79"/>
                </a:solidFill>
                <a:latin typeface="Calibri"/>
              </a:defRPr>
            </a:pPr>
            <a:r>
              <a:t>SKILL DEVELOPMENT LAB-II • AY 2026–27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43000"/>
            <a:ext cx="516636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46304"/>
          <a:lstStyle/>
          <a:p>
            <a:pPr algn="l">
              <a:spcAft>
                <a:spcPts val="400"/>
              </a:spcAft>
              <a:defRPr sz="1250" b="1">
                <a:solidFill>
                  <a:srgbClr val="1F4E79"/>
                </a:solidFill>
                <a:latin typeface="Calibri"/>
              </a:defRPr>
            </a:pPr>
            <a:r>
              <a:t>ENTERPRISE PLATFORM &amp; BACKEND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Java Platform: </a:t>
            </a:r>
            <a:r>
              <a:rPr sz="1050">
                <a:solidFill>
                  <a:srgbClr val="1E293B"/>
                </a:solidFill>
                <a:latin typeface="Calibri"/>
              </a:rPr>
              <a:t>Java 17 LTS bytecode (Built on Azul Zulu OpenJDK 25)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Enterprise Standard: </a:t>
            </a:r>
            <a:r>
              <a:rPr sz="1050">
                <a:solidFill>
                  <a:srgbClr val="1E293B"/>
                </a:solidFill>
                <a:latin typeface="Calibri"/>
              </a:rPr>
              <a:t>Jakarta EE 10 Web Profile Specification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Web Controller Layer: </a:t>
            </a:r>
            <a:r>
              <a:rPr sz="1050">
                <a:solidFill>
                  <a:srgbClr val="1E293B"/>
                </a:solidFill>
                <a:latin typeface="Calibri"/>
              </a:rPr>
              <a:t>Jakarta Servlets 6.0 (`jakarta.servlet.http.*`)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Server-Side Rendering: </a:t>
            </a:r>
            <a:r>
              <a:rPr sz="1050">
                <a:solidFill>
                  <a:srgbClr val="1E293B"/>
                </a:solidFill>
                <a:latin typeface="Calibri"/>
              </a:rPr>
              <a:t>Jakarta Server Pages (JSP 3.1) &amp; JSTL 3.0 Standard Tag Library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143000"/>
            <a:ext cx="516636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46304"/>
          <a:lstStyle/>
          <a:p>
            <a:pPr algn="l">
              <a:spcAft>
                <a:spcPts val="400"/>
              </a:spcAft>
              <a:defRPr sz="1250" b="1">
                <a:solidFill>
                  <a:srgbClr val="2563EB"/>
                </a:solidFill>
                <a:latin typeface="Calibri"/>
              </a:defRPr>
            </a:pPr>
            <a:r>
              <a:t>APPLICATION SERVER &amp; DATABASE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Application Server: </a:t>
            </a:r>
            <a:r>
              <a:rPr sz="1050">
                <a:solidFill>
                  <a:srgbClr val="1E293B"/>
                </a:solidFill>
                <a:latin typeface="Calibri"/>
              </a:rPr>
              <a:t>Eclipse GlassFish 7.1.1 (Deployed under `/DeadlineBuddy`)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Database Engine: </a:t>
            </a:r>
            <a:r>
              <a:rPr sz="1050">
                <a:solidFill>
                  <a:srgbClr val="1E293B"/>
                </a:solidFill>
                <a:latin typeface="Calibri"/>
              </a:rPr>
              <a:t>MySQL Server 8.0.44 (InnoDB Storage Engine with ACID)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Persistence / ORM: </a:t>
            </a:r>
            <a:r>
              <a:rPr sz="1050">
                <a:solidFill>
                  <a:srgbClr val="1E293B"/>
                </a:solidFill>
                <a:latin typeface="Calibri"/>
              </a:rPr>
              <a:t>Jakarta Persistence (JPA 3.1) via EclipseLink implementation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Database Driver: </a:t>
            </a:r>
            <a:r>
              <a:rPr sz="1050">
                <a:solidFill>
                  <a:srgbClr val="1E293B"/>
                </a:solidFill>
                <a:latin typeface="Calibri"/>
              </a:rPr>
              <a:t>MySQL Connector/J 9.7.0 (JDBC Connection Pooling)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886200"/>
            <a:ext cx="516636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46304"/>
          <a:lstStyle/>
          <a:p>
            <a:pPr algn="l">
              <a:spcAft>
                <a:spcPts val="400"/>
              </a:spcAft>
              <a:defRPr sz="1250" b="1">
                <a:solidFill>
                  <a:srgbClr val="1E293B"/>
                </a:solidFill>
                <a:latin typeface="Calibri"/>
              </a:defRPr>
            </a:pPr>
            <a:r>
              <a:t>DEFENSIVE SECURITY &amp; ENCRYPTION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Password Cryptography: </a:t>
            </a:r>
            <a:r>
              <a:rPr sz="1050">
                <a:solidFill>
                  <a:srgbClr val="1E293B"/>
                </a:solidFill>
                <a:latin typeface="Calibri"/>
              </a:rPr>
              <a:t>PBKDF2-HMAC-SHA256 (210,000 iterations, 16-byte salt, constant-time compare)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CSRF Defense Filter: </a:t>
            </a:r>
            <a:r>
              <a:rPr sz="1050">
                <a:solidFill>
                  <a:srgbClr val="1E293B"/>
                </a:solidFill>
                <a:latin typeface="Calibri"/>
              </a:rPr>
              <a:t>Synchronized Token Pattern (`CsrfFilter`) on all HTTP state changes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Session Fixation Defense: </a:t>
            </a:r>
            <a:r>
              <a:rPr sz="1050">
                <a:solidFill>
                  <a:srgbClr val="1E293B"/>
                </a:solidFill>
                <a:latin typeface="Calibri"/>
              </a:rPr>
              <a:t>Fresh session ID issued upon sign-in; strict session invalidation on logout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SQL Injection Prevention: </a:t>
            </a:r>
            <a:r>
              <a:rPr sz="1050">
                <a:solidFill>
                  <a:srgbClr val="1E293B"/>
                </a:solidFill>
                <a:latin typeface="Calibri"/>
              </a:rPr>
              <a:t>100% Prepared Statements and parameterized JPA queries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3886200"/>
            <a:ext cx="516636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46304"/>
          <a:lstStyle/>
          <a:p>
            <a:pPr algn="l">
              <a:spcAft>
                <a:spcPts val="400"/>
              </a:spcAft>
              <a:defRPr sz="1250" b="1">
                <a:solidFill>
                  <a:srgbClr val="1F4E79"/>
                </a:solidFill>
                <a:latin typeface="Calibri"/>
              </a:defRPr>
            </a:pPr>
            <a:r>
              <a:t>FRONTEND, IDE &amp; QUALITY ASSURANCE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Frontend &amp; Responsive UI: </a:t>
            </a:r>
            <a:r>
              <a:rPr sz="1050">
                <a:solidFill>
                  <a:srgbClr val="1E293B"/>
                </a:solidFill>
                <a:latin typeface="Calibri"/>
              </a:rPr>
              <a:t>Bootstrap 5.3, HTML5, Vanilla CSS3 (Zero npm/webpack bloat)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Development IDE: </a:t>
            </a:r>
            <a:r>
              <a:rPr sz="1050">
                <a:solidFill>
                  <a:srgbClr val="1E293B"/>
                </a:solidFill>
                <a:latin typeface="Calibri"/>
              </a:rPr>
              <a:t>Apache NetBeans 30 (Ant-based Java Web Application)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Build System: </a:t>
            </a:r>
            <a:r>
              <a:rPr sz="1050">
                <a:solidFill>
                  <a:srgbClr val="1E293B"/>
                </a:solidFill>
                <a:latin typeface="Calibri"/>
              </a:rPr>
              <a:t>Apache Ant (Automated Clean, Compile &amp; WAR packaging)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Quality Assurance Suite: </a:t>
            </a:r>
            <a:r>
              <a:rPr sz="1050">
                <a:solidFill>
                  <a:srgbClr val="1E293B"/>
                </a:solidFill>
                <a:latin typeface="Calibri"/>
              </a:rPr>
              <a:t>Automated HTTP regression suite (264 assertions across 7 batches)</a:t>
            </a:r>
          </a:p>
        </p:txBody>
      </p:sp>
    </p:spTree>
    <p:extLst>
      <p:ext uri="{BB962C8B-B14F-4D97-AF65-F5344CB8AC3E}">
        <p14:creationId xmlns:p14="http://schemas.microsoft.com/office/powerpoint/2010/main" val="411480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20040"/>
            <a:ext cx="7772400" cy="594360"/>
          </a:xfrm>
        </p:spPr>
        <p:txBody>
          <a:bodyPr wrap="square" anchor="ctr">
            <a:noAutofit/>
          </a:bodyPr>
          <a:lstStyle/>
          <a:p>
            <a:pPr algn="l">
              <a:defRPr sz="2400" b="1">
                <a:solidFill>
                  <a:srgbClr val="1F4E79"/>
                </a:solidFill>
                <a:latin typeface="Calibri"/>
              </a:defRPr>
            </a:pPr>
            <a:r>
              <a:t>Implementation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32688"/>
            <a:ext cx="20116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384048"/>
            <a:ext cx="3090672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F4E79"/>
                </a:solidFill>
                <a:latin typeface="Calibri"/>
              </a:defRPr>
            </a:pPr>
            <a:r>
              <a:t>SKILL DEVELOPMENT LAB-II • AY 2026–27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43000"/>
            <a:ext cx="5166360" cy="5349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l">
              <a:spcAft>
                <a:spcPts val="400"/>
              </a:spcAft>
              <a:defRPr sz="1250" b="1">
                <a:solidFill>
                  <a:srgbClr val="1F4E79"/>
                </a:solidFill>
                <a:latin typeface="Calibri"/>
              </a:defRPr>
            </a:pPr>
            <a:r>
              <a:t>CORE FUNCTIONAL MODULES IMPLEMENTED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1. Auth &amp; Session Management: </a:t>
            </a:r>
            <a:r>
              <a:rPr sz="1050">
                <a:solidFill>
                  <a:srgbClr val="1E293B"/>
                </a:solidFill>
                <a:latin typeface="Calibri"/>
              </a:rPr>
              <a:t>User registration, PBKDF2 hashing, session regeneration, and automated login redirect safeguards.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2. Subject Management &amp; Progress: </a:t>
            </a:r>
            <a:r>
              <a:rPr sz="1050">
                <a:solidFill>
                  <a:srgbClr val="1E293B"/>
                </a:solidFill>
                <a:latin typeface="Calibri"/>
              </a:rPr>
              <a:t>Student-owned subject portfolio with personalized hex colors, duplicate name prevention, and live task completion progress bars.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3. Task Scheduling &amp; Query Engine: </a:t>
            </a:r>
            <a:r>
              <a:rPr sz="1050">
                <a:solidFill>
                  <a:srgbClr val="1E293B"/>
                </a:solidFill>
                <a:latin typeface="Calibri"/>
              </a:rPr>
              <a:t>Full CRUD across 5 academic types (Assignment, Practical, Submission, Exam, Other) with 3 priority tiers and dynamic multi-criteria search/filter.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4. Real-Time Dashboard Analytics: </a:t>
            </a:r>
            <a:r>
              <a:rPr sz="1050">
                <a:solidFill>
                  <a:srgbClr val="1E293B"/>
                </a:solidFill>
                <a:latin typeface="Calibri"/>
              </a:rPr>
              <a:t>Six dynamic KPI tally cards (Total, Completed, Pending, In Progress, Overdue, Due Today) with priority-focused work queues.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5. Defensive Security Layer: </a:t>
            </a:r>
            <a:r>
              <a:rPr sz="1050">
                <a:solidFill>
                  <a:srgbClr val="1E293B"/>
                </a:solidFill>
                <a:latin typeface="Calibri"/>
              </a:rPr>
              <a:t>Global AuthFilter protecting private routes; CsrfFilter blocking unauthorized cross-origin state changes; composite keys blocking IDOR attacks.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143000"/>
            <a:ext cx="51663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234440"/>
            <a:ext cx="498348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45352" y="3840480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Calibri"/>
              </a:defRPr>
            </a:pPr>
            <a:r>
              <a:t>Figure: DeadlineBuddy Running Dashboard with KPI Cards &amp; Task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4251960"/>
            <a:ext cx="24688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  <a:defRPr sz="1300" b="1">
                <a:solidFill>
                  <a:srgbClr val="16A34A"/>
                </a:solidFill>
                <a:latin typeface="Calibri"/>
              </a:defRPr>
            </a:pPr>
            <a:r>
              <a:t>264 / 264 Passed</a:t>
            </a:r>
          </a:p>
          <a:p>
            <a:pPr>
              <a:spcAft>
                <a:spcPts val="100"/>
              </a:spcAft>
              <a:defRPr sz="1000" b="1">
                <a:solidFill>
                  <a:srgbClr val="1E293B"/>
                </a:solidFill>
                <a:latin typeface="Calibri"/>
              </a:defRPr>
            </a:pPr>
            <a:r>
              <a:t>100% Test Assertions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Across 7 automated test batches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4251960"/>
            <a:ext cx="24688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466 Pages Crawled</a:t>
            </a:r>
          </a:p>
          <a:p>
            <a:pPr>
              <a:spcAft>
                <a:spcPts val="100"/>
              </a:spcAft>
              <a:defRPr sz="1000" b="1">
                <a:solidFill>
                  <a:srgbClr val="1E293B"/>
                </a:solidFill>
                <a:latin typeface="Calibri"/>
              </a:defRPr>
            </a:pPr>
            <a:r>
              <a:t>Zero HTTP Errors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Crawled across 3 concurrent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5413248"/>
            <a:ext cx="24688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&lt; 40 ms Latency</a:t>
            </a:r>
          </a:p>
          <a:p>
            <a:pPr>
              <a:spcAft>
                <a:spcPts val="100"/>
              </a:spcAft>
              <a:defRPr sz="1000" b="1">
                <a:solidFill>
                  <a:srgbClr val="1E293B"/>
                </a:solidFill>
                <a:latin typeface="Calibri"/>
              </a:defRPr>
            </a:pPr>
            <a:r>
              <a:t>Ultra-Fast Server Loads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Sub-40ms page delivery on GlassFish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2832" y="5413248"/>
            <a:ext cx="24688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100% Data Integrity</a:t>
            </a:r>
          </a:p>
          <a:p>
            <a:pPr>
              <a:spcAft>
                <a:spcPts val="100"/>
              </a:spcAft>
              <a:defRPr sz="1000" b="1">
                <a:solidFill>
                  <a:srgbClr val="1E293B"/>
                </a:solidFill>
                <a:latin typeface="Calibri"/>
              </a:defRPr>
            </a:pPr>
            <a:r>
              <a:t>Zero Server Leakage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Persistent across full GlassFish restarts</a:t>
            </a:r>
          </a:p>
        </p:txBody>
      </p:sp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20040"/>
            <a:ext cx="7772400" cy="594360"/>
          </a:xfrm>
        </p:spPr>
        <p:txBody>
          <a:bodyPr wrap="square" anchor="ctr"/>
          <a:lstStyle/>
          <a:p>
            <a:pPr algn="l">
              <a:defRPr sz="2400" b="1">
                <a:solidFill>
                  <a:srgbClr val="1F4E79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32688"/>
            <a:ext cx="20116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384048"/>
            <a:ext cx="3090672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F4E79"/>
                </a:solidFill>
                <a:latin typeface="Calibri"/>
              </a:defRPr>
            </a:pPr>
            <a:r>
              <a:t>SKILL DEVELOPMENT LAB-II • AY 2026–27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43000"/>
            <a:ext cx="10634472" cy="21488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l">
              <a:spcAft>
                <a:spcPts val="400"/>
              </a:spcAft>
              <a:defRPr sz="1300" b="1">
                <a:solidFill>
                  <a:srgbClr val="1F4E79"/>
                </a:solidFill>
                <a:latin typeface="Calibri"/>
              </a:defRPr>
            </a:pPr>
            <a:r>
              <a:t>SUMMARY OF TECHNICAL ACHIEVEMENTS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Successful Enterprise Deployment: </a:t>
            </a:r>
            <a:r>
              <a:rPr sz="1050">
                <a:solidFill>
                  <a:srgbClr val="1E293B"/>
                </a:solidFill>
                <a:latin typeface="Calibri"/>
              </a:rPr>
              <a:t>Engineered and validated DeadlineBuddy on Jakarta EE 10, Java Servlets 6.0, JPA 3.1 EclipseLink, and MySQL 8.0 hosted on Eclipse GlassFish 7.1.1.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Elimination of Academic Amnesia: </a:t>
            </a:r>
            <a:r>
              <a:rPr sz="1050">
                <a:solidFill>
                  <a:srgbClr val="1E293B"/>
                </a:solidFill>
                <a:latin typeface="Calibri"/>
              </a:rPr>
              <a:t>Directly solved student submission bottlenecks through real-time temporal state classification (Overdue, Due Today, Upcoming, Completed) and subject completion bars.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Production-Grade Security: </a:t>
            </a:r>
            <a:r>
              <a:rPr sz="1050">
                <a:solidFill>
                  <a:srgbClr val="1E293B"/>
                </a:solidFill>
                <a:latin typeface="Calibri"/>
              </a:rPr>
              <a:t>Enforced OWASP defenses with PBKDF2 password derivation (210,000 rounds), CSRF token validation, session regeneration, and composite foreign key database isolation.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Empirical Verification: </a:t>
            </a:r>
            <a:r>
              <a:rPr sz="1050">
                <a:solidFill>
                  <a:srgbClr val="1E293B"/>
                </a:solidFill>
                <a:latin typeface="Calibri"/>
              </a:rPr>
              <a:t>Attained a 100% pass rate across 264 automated QA test assertions and 466 crawled pages with zero runtime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29000"/>
            <a:ext cx="516636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l">
              <a:spcAft>
                <a:spcPts val="400"/>
              </a:spcAft>
              <a:defRPr sz="1250" b="1">
                <a:solidFill>
                  <a:srgbClr val="D97706"/>
                </a:solidFill>
                <a:latin typeface="Calibri"/>
              </a:defRPr>
            </a:pPr>
            <a:r>
              <a:t>CURRENT SYSTEM LIMITATIONS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In-Application Alerts Only: </a:t>
            </a:r>
            <a:r>
              <a:rPr sz="1050">
                <a:solidFill>
                  <a:srgbClr val="1E293B"/>
                </a:solidFill>
                <a:latin typeface="Calibri"/>
              </a:rPr>
              <a:t>Deadlines are displayed visually via real-time dashboard tally cards and badges; automated outbound SMS/email gateways are not yet connected.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Offline Mode Absence: </a:t>
            </a:r>
            <a:r>
              <a:rPr sz="1050">
                <a:solidFill>
                  <a:srgbClr val="1E293B"/>
                </a:solidFill>
                <a:latin typeface="Calibri"/>
              </a:rPr>
              <a:t>Application delivers an ultra-responsive web experience on mobile and desktop, but does not yet feature Progressive Web App (PWA) offline service workers.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Manual Coursework Entry: </a:t>
            </a:r>
            <a:r>
              <a:rPr sz="1050">
                <a:solidFill>
                  <a:srgbClr val="1E293B"/>
                </a:solidFill>
                <a:latin typeface="Calibri"/>
              </a:rPr>
              <a:t>Students manually enter tasks; bi-directional RESTful synchronization with college LMS (Moodle / Google Classroom) is not yet integrated.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3429000"/>
            <a:ext cx="516636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l">
              <a:spcAft>
                <a:spcPts val="400"/>
              </a:spcAft>
              <a:defRPr sz="1250" b="1">
                <a:solidFill>
                  <a:srgbClr val="2563EB"/>
                </a:solidFill>
                <a:latin typeface="Calibri"/>
              </a:defRPr>
            </a:pPr>
            <a:r>
              <a:t>FUTURE SCOPE &amp; DEVELOPMENT ROADMAP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Outbound Alert Gateways: </a:t>
            </a:r>
            <a:r>
              <a:rPr sz="1050">
                <a:solidFill>
                  <a:srgbClr val="1E293B"/>
                </a:solidFill>
                <a:latin typeface="Calibri"/>
              </a:rPr>
              <a:t>Integrate JavaMail API and WebPush notifications to dispatch automatic reminders 24 hours and 2 hours prior to scheduled deadlines.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Institutional LMS Sync: </a:t>
            </a:r>
            <a:r>
              <a:rPr sz="1050">
                <a:solidFill>
                  <a:srgbClr val="1E293B"/>
                </a:solidFill>
                <a:latin typeface="Calibri"/>
              </a:rPr>
              <a:t>Develop RESTful API connectors for Moodle, Canvas, and Google Classroom to automatically ingest college assignments and lab notices.</a:t>
            </a:r>
          </a:p>
          <a:p>
            <a:pPr algn="l">
              <a:spcBef>
                <a:spcPts val="250"/>
              </a:spcBef>
              <a:spcAft>
                <a:spcPts val="25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AI-Driven Workload Balancer: </a:t>
            </a:r>
            <a:r>
              <a:rPr sz="1050">
                <a:solidFill>
                  <a:srgbClr val="1E293B"/>
                </a:solidFill>
                <a:latin typeface="Calibri"/>
              </a:rPr>
              <a:t>Incorporate heuristic scheduling algorithms that analyze estimated effort, priority, and exam timetables to suggest balanced daily study plans.</a:t>
            </a:r>
          </a:p>
        </p:txBody>
      </p:sp>
    </p:spTree>
    <p:extLst>
      <p:ext uri="{BB962C8B-B14F-4D97-AF65-F5344CB8AC3E}">
        <p14:creationId xmlns:p14="http://schemas.microsoft.com/office/powerpoint/2010/main" val="405335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59A8-4301-4C8E-80D1-086242B73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20040"/>
            <a:ext cx="7772400" cy="594360"/>
          </a:xfrm>
        </p:spPr>
        <p:txBody>
          <a:bodyPr wrap="square" anchor="ctr">
            <a:normAutofit/>
          </a:bodyPr>
          <a:lstStyle/>
          <a:p>
            <a:pPr marL="0" indent="0" algn="l">
              <a:defRPr sz="2400" b="1">
                <a:solidFill>
                  <a:srgbClr val="1F4E79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932688"/>
            <a:ext cx="201168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384048"/>
            <a:ext cx="3090672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F4E79"/>
                </a:solidFill>
                <a:latin typeface="Calibri"/>
              </a:defRPr>
            </a:pPr>
            <a:r>
              <a:t>SKILL DEVELOPMENT LAB-II • AY 2026–27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43000"/>
            <a:ext cx="10634472" cy="5349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l">
              <a:spcAft>
                <a:spcPts val="400"/>
              </a:spcAft>
              <a:defRPr sz="1250" b="1">
                <a:solidFill>
                  <a:srgbClr val="1F4E79"/>
                </a:solidFill>
                <a:latin typeface="Calibri"/>
              </a:defRPr>
            </a:pPr>
            <a:r>
              <a:t>STANDARD IEEE &amp; TECHNICAL CITATIONS</a:t>
            </a:r>
          </a:p>
          <a:p>
            <a:pPr>
              <a:spcBef>
                <a:spcPts val="220"/>
              </a:spcBef>
              <a:spcAft>
                <a:spcPts val="22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[1] </a:t>
            </a:r>
            <a:r>
              <a:rPr sz="950" b="1">
                <a:solidFill>
                  <a:srgbClr val="1E293B"/>
                </a:solidFill>
                <a:latin typeface="Calibri"/>
              </a:rPr>
              <a:t>Eclipse Foundation, </a:t>
            </a:r>
            <a:r>
              <a:rPr sz="950">
                <a:solidFill>
                  <a:srgbClr val="1E293B"/>
                </a:solidFill>
                <a:latin typeface="Calibri"/>
              </a:rPr>
              <a:t>"Jakarta EE 10 Web Profile Specification, Eclipse Foundation Standards, Doc ID: JEE-10-SPEC, 2023. [Online]. Available: https://jakarta.ee/specifications/platform/10/"</a:t>
            </a:r>
          </a:p>
          <a:p>
            <a:pPr>
              <a:spcBef>
                <a:spcPts val="220"/>
              </a:spcBef>
              <a:spcAft>
                <a:spcPts val="22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[2] </a:t>
            </a:r>
            <a:r>
              <a:rPr sz="950" b="1">
                <a:solidFill>
                  <a:srgbClr val="1E293B"/>
                </a:solidFill>
                <a:latin typeface="Calibri"/>
              </a:rPr>
              <a:t>EclipseLink Project, </a:t>
            </a:r>
            <a:r>
              <a:rPr sz="950">
                <a:solidFill>
                  <a:srgbClr val="1E293B"/>
                </a:solidFill>
                <a:latin typeface="Calibri"/>
              </a:rPr>
              <a:t>"EclipseLink 3.1 Developer's Guide: Jakarta Persistence (JPA), Eclipse Foundation Documentation, 2024. [Online]. Available: https://www.eclipse.org/eclipselink/"</a:t>
            </a:r>
          </a:p>
          <a:p>
            <a:pPr>
              <a:spcBef>
                <a:spcPts val="220"/>
              </a:spcBef>
              <a:spcAft>
                <a:spcPts val="22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[3] </a:t>
            </a:r>
            <a:r>
              <a:rPr sz="950" b="1">
                <a:solidFill>
                  <a:srgbClr val="1E293B"/>
                </a:solidFill>
                <a:latin typeface="Calibri"/>
              </a:rPr>
              <a:t>Oracle Corporation, </a:t>
            </a:r>
            <a:r>
              <a:rPr sz="950">
                <a:solidFill>
                  <a:srgbClr val="1E293B"/>
                </a:solidFill>
                <a:latin typeface="Calibri"/>
              </a:rPr>
              <a:t>"MySQL 8.0 Reference Manual: InnoDB Engine Architecture and Optimization, Oracle Press, Redwood City, CA, 2024. [Online]. Available: https://dev.mysql.com/doc/"</a:t>
            </a:r>
          </a:p>
          <a:p>
            <a:pPr>
              <a:spcBef>
                <a:spcPts val="220"/>
              </a:spcBef>
              <a:spcAft>
                <a:spcPts val="22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[4] </a:t>
            </a:r>
            <a:r>
              <a:rPr sz="950" b="1">
                <a:solidFill>
                  <a:srgbClr val="1E293B"/>
                </a:solidFill>
                <a:latin typeface="Calibri"/>
              </a:rPr>
              <a:t>OWASP Foundation, </a:t>
            </a:r>
            <a:r>
              <a:rPr sz="950">
                <a:solidFill>
                  <a:srgbClr val="1E293B"/>
                </a:solidFill>
                <a:latin typeface="Calibri"/>
              </a:rPr>
              <a:t>"OWASP Top 10 Web Application Security Risks, Open Web Application Security Project Standards, 2021. [Online]. Available: https://owasp.org/Top10/"</a:t>
            </a:r>
          </a:p>
          <a:p>
            <a:pPr>
              <a:spcBef>
                <a:spcPts val="220"/>
              </a:spcBef>
              <a:spcAft>
                <a:spcPts val="22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[5] </a:t>
            </a:r>
            <a:r>
              <a:rPr sz="950" b="1">
                <a:solidFill>
                  <a:srgbClr val="1E293B"/>
                </a:solidFill>
                <a:latin typeface="Calibri"/>
              </a:rPr>
              <a:t>R. S. Pressman and B. R. Maxim, </a:t>
            </a:r>
            <a:r>
              <a:rPr sz="950">
                <a:solidFill>
                  <a:srgbClr val="1E293B"/>
                </a:solidFill>
                <a:latin typeface="Calibri"/>
              </a:rPr>
              <a:t>"Software Engineering: A Practitioner's Approach, 9th Edition, McGraw-Hill Higher Education, New York, NY, 2020, ISBN: 978-1259872976."</a:t>
            </a:r>
          </a:p>
          <a:p>
            <a:pPr>
              <a:spcBef>
                <a:spcPts val="220"/>
              </a:spcBef>
              <a:spcAft>
                <a:spcPts val="22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[6] </a:t>
            </a:r>
            <a:r>
              <a:rPr sz="950" b="1">
                <a:solidFill>
                  <a:srgbClr val="1E293B"/>
                </a:solidFill>
                <a:latin typeface="Calibri"/>
              </a:rPr>
              <a:t>A. Silberschatz, H. F. Korth, and S. Sudarshan, </a:t>
            </a:r>
            <a:r>
              <a:rPr sz="950">
                <a:solidFill>
                  <a:srgbClr val="1E293B"/>
                </a:solidFill>
                <a:latin typeface="Calibri"/>
              </a:rPr>
              <a:t>"Database System Concepts, 7th Edition, McGraw-Hill Higher Education, New York, NY, 2019, ISBN: 978-0078022159."</a:t>
            </a:r>
          </a:p>
          <a:p>
            <a:pPr>
              <a:spcBef>
                <a:spcPts val="220"/>
              </a:spcBef>
              <a:spcAft>
                <a:spcPts val="22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[7] </a:t>
            </a:r>
            <a:r>
              <a:rPr sz="950" b="1">
                <a:solidFill>
                  <a:srgbClr val="1E293B"/>
                </a:solidFill>
                <a:latin typeface="Calibri"/>
              </a:rPr>
              <a:t>National Institute of Standards and Technology (NIST), </a:t>
            </a:r>
            <a:r>
              <a:rPr sz="950">
                <a:solidFill>
                  <a:srgbClr val="1E293B"/>
                </a:solidFill>
                <a:latin typeface="Calibri"/>
              </a:rPr>
              <a:t>"Recommendation for Password-Based Key Derivation: PBKDF2, NIST Special Publication 800-132, U.S. Dept. of Commerce, 2010."</a:t>
            </a:r>
          </a:p>
          <a:p>
            <a:pPr>
              <a:spcBef>
                <a:spcPts val="220"/>
              </a:spcBef>
              <a:spcAft>
                <a:spcPts val="22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[8] </a:t>
            </a:r>
            <a:r>
              <a:rPr sz="950" b="1">
                <a:solidFill>
                  <a:srgbClr val="1E293B"/>
                </a:solidFill>
                <a:latin typeface="Calibri"/>
              </a:rPr>
              <a:t>Azul Systems, </a:t>
            </a:r>
            <a:r>
              <a:rPr sz="950">
                <a:solidFill>
                  <a:srgbClr val="1E293B"/>
                </a:solidFill>
                <a:latin typeface="Calibri"/>
              </a:rPr>
              <a:t>"Zulu OpenJDK 25 and 17 LTS Enterprise Compatibility Guide, Azul Systems Technical Whitepaper, 2024. [Online]. Available: https://www.azul.com/products/core/"</a:t>
            </a:r>
          </a:p>
          <a:p>
            <a:pPr>
              <a:spcBef>
                <a:spcPts val="220"/>
              </a:spcBef>
              <a:spcAft>
                <a:spcPts val="22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[9] </a:t>
            </a:r>
            <a:r>
              <a:rPr sz="950" b="1">
                <a:solidFill>
                  <a:srgbClr val="1E293B"/>
                </a:solidFill>
                <a:latin typeface="Calibri"/>
              </a:rPr>
              <a:t>Apache Software Foundation, </a:t>
            </a:r>
            <a:r>
              <a:rPr sz="950">
                <a:solidFill>
                  <a:srgbClr val="1E293B"/>
                </a:solidFill>
                <a:latin typeface="Calibri"/>
              </a:rPr>
              <a:t>"Apache NetBeans 30 &amp; Apache Ant Build Management Documentation, 2024. [Online]. Available: https://netbeans.apache.org/"</a:t>
            </a:r>
          </a:p>
          <a:p>
            <a:pPr>
              <a:spcBef>
                <a:spcPts val="220"/>
              </a:spcBef>
              <a:spcAft>
                <a:spcPts val="22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[10] </a:t>
            </a:r>
            <a:r>
              <a:rPr sz="950" b="1">
                <a:solidFill>
                  <a:srgbClr val="1E293B"/>
                </a:solidFill>
                <a:latin typeface="Calibri"/>
              </a:rPr>
              <a:t>Mark Otto and Jacob Thornton, </a:t>
            </a:r>
            <a:r>
              <a:rPr sz="950">
                <a:solidFill>
                  <a:srgbClr val="1E293B"/>
                </a:solidFill>
                <a:latin typeface="Calibri"/>
              </a:rPr>
              <a:t>"Bootstrap 5.3: Responsive Front-End Framework Documentation, 2024. [Online]. Available: https://getbootstrap.com/"</a:t>
            </a:r>
          </a:p>
        </p:txBody>
      </p:sp>
    </p:spTree>
    <p:extLst>
      <p:ext uri="{BB962C8B-B14F-4D97-AF65-F5344CB8AC3E}">
        <p14:creationId xmlns:p14="http://schemas.microsoft.com/office/powerpoint/2010/main" val="940399193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040"/>
            <a:ext cx="1051560" cy="101023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320040"/>
            <a:ext cx="1051560" cy="9565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371600" y="1417320"/>
            <a:ext cx="9445752" cy="4800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800" b="1">
                <a:solidFill>
                  <a:srgbClr val="1F4E79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Questions &amp; Discussion Are Welcome</a:t>
            </a:r>
          </a:p>
          <a:p>
            <a:pPr algn="ctr">
              <a:spcAft>
                <a:spcPts val="16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DeadlineBuddy – A Web-Based Deadline and Task Management System</a:t>
            </a:r>
          </a:p>
          <a:p>
            <a:pPr algn="ctr">
              <a:spcAft>
                <a:spcPts val="2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Presented by: Girish Sunil Hapse (PRN: RBT24CB067 | Roll No: CB-67)</a:t>
            </a:r>
          </a:p>
          <a:p>
            <a:pPr algn="ctr">
              <a:spcAft>
                <a:spcPts val="600"/>
              </a:spcAft>
              <a:defRPr sz="1200">
                <a:solidFill>
                  <a:srgbClr val="1F4E79"/>
                </a:solidFill>
                <a:latin typeface="Calibri"/>
              </a:defRPr>
            </a:pPr>
            <a:r>
              <a:t>Under the Guidance of: Prof. Rutuja S. Bachhav (Course Coordinator &amp; Guide)</a:t>
            </a:r>
          </a:p>
          <a:p>
            <a:pPr algn="ctr">
              <a:spcAft>
                <a:spcPts val="10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Department of Computer Science and Business Systems</a:t>
            </a:r>
            <a:br/>
            <a:r>
              <a:t>JSPM’s Rajarshi Shahu College of Engineering, Tathawade, Pune</a:t>
            </a:r>
          </a:p>
          <a:p>
            <a:pPr algn="ctr">
              <a:defRPr sz="1050" b="1">
                <a:solidFill>
                  <a:srgbClr val="2563EB"/>
                </a:solidFill>
                <a:latin typeface="Calibri"/>
              </a:defRPr>
            </a:pPr>
            <a:r>
              <a:t>Local Deployment: http://localhost:8080/DeadlineBuddy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Book Antiqua</vt:lpstr>
      <vt:lpstr>Bookman Old Style</vt:lpstr>
      <vt:lpstr>Times New Roman</vt:lpstr>
      <vt:lpstr>Office Theme</vt:lpstr>
      <vt:lpstr>PowerPoint Presentation</vt:lpstr>
      <vt:lpstr>Index</vt:lpstr>
      <vt:lpstr>Introduction / Background</vt:lpstr>
      <vt:lpstr>Problem Definition &amp; Objectives </vt:lpstr>
      <vt:lpstr>Literature Survey </vt:lpstr>
      <vt:lpstr>Feasibility Study</vt:lpstr>
      <vt:lpstr>System Design &amp; Architecture </vt:lpstr>
      <vt:lpstr>Technology &amp; Tools Used </vt:lpstr>
      <vt:lpstr>Implementation &amp; Results 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9</cp:revision>
  <dcterms:created xsi:type="dcterms:W3CDTF">2026-10-05T10:44:11Z</dcterms:created>
  <dcterms:modified xsi:type="dcterms:W3CDTF">2026-10-05T10:46:50Z</dcterms:modified>
</cp:coreProperties>
</file>